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56" r:id="rId2"/>
    <p:sldId id="257" r:id="rId3"/>
    <p:sldId id="270" r:id="rId4"/>
    <p:sldId id="260" r:id="rId5"/>
    <p:sldId id="261" r:id="rId6"/>
    <p:sldId id="262" r:id="rId7"/>
    <p:sldId id="263" r:id="rId8"/>
    <p:sldId id="264" r:id="rId9"/>
    <p:sldId id="258" r:id="rId10"/>
    <p:sldId id="269" r:id="rId11"/>
    <p:sldId id="271" r:id="rId12"/>
    <p:sldId id="272" r:id="rId13"/>
    <p:sldId id="267" r:id="rId14"/>
    <p:sldId id="259" r:id="rId15"/>
    <p:sldId id="273"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1676" autoAdjust="0"/>
  </p:normalViewPr>
  <p:slideViewPr>
    <p:cSldViewPr snapToGrid="0" snapToObjects="1">
      <p:cViewPr varScale="1">
        <p:scale>
          <a:sx n="96" d="100"/>
          <a:sy n="96" d="100"/>
        </p:scale>
        <p:origin x="106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3D9847-E717-4F7D-8663-673BF699960F}" type="datetimeFigureOut">
              <a:rPr lang="en-US" smtClean="0"/>
              <a:t>12/7/2025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78E43E-8910-4C68-B2D4-9BBE43C8AD6D}" type="slidenum">
              <a:rPr lang="en-US" smtClean="0"/>
              <a:t>‹#›</a:t>
            </a:fld>
            <a:endParaRPr lang="en-US"/>
          </a:p>
        </p:txBody>
      </p:sp>
    </p:spTree>
    <p:extLst>
      <p:ext uri="{BB962C8B-B14F-4D97-AF65-F5344CB8AC3E}">
        <p14:creationId xmlns:p14="http://schemas.microsoft.com/office/powerpoint/2010/main" val="392104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US" dirty="0"/>
              <a:t>Good evening everyone, I’m Ashraff, and today I’ll be presenting our project titled </a:t>
            </a:r>
            <a:r>
              <a:rPr lang="en-US" b="1" dirty="0"/>
              <a:t>Online Query Optimization using an Effective Kruskal’s Algorithm with a Parallel Algorithm Approach</a:t>
            </a:r>
            <a:r>
              <a:rPr lang="en-US" dirty="0"/>
              <a:t>.”</a:t>
            </a:r>
          </a:p>
          <a:p>
            <a:pPr>
              <a:buFont typeface="Arial" panose="020B0604020202020204" pitchFamily="34" charset="0"/>
              <a:buNone/>
            </a:pPr>
            <a:r>
              <a:rPr lang="en-US" dirty="0"/>
              <a:t>Our goal is to </a:t>
            </a:r>
            <a:r>
              <a:rPr lang="en-US" b="1" dirty="0"/>
              <a:t>optimize Kruskal’s algorithm</a:t>
            </a:r>
            <a:r>
              <a:rPr lang="en-US" dirty="0"/>
              <a:t> so that it works efficiently for real-time dynamic updates using parallel processing.”</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1</a:t>
            </a:fld>
            <a:endParaRPr lang="en-US"/>
          </a:p>
        </p:txBody>
      </p:sp>
    </p:spTree>
    <p:extLst>
      <p:ext uri="{BB962C8B-B14F-4D97-AF65-F5344CB8AC3E}">
        <p14:creationId xmlns:p14="http://schemas.microsoft.com/office/powerpoint/2010/main" val="3878263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modern systems — telecom networks, transportation, logistics — continuously update distances or costs.”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Traditional Kruskal’s MST is too slow because it must sort and process all edges every time.”</a:t>
            </a:r>
          </a:p>
          <a:p>
            <a:r>
              <a:rPr lang="en-US" dirty="0"/>
              <a:t>“Every time an update occurs, MST must be recalculated. </a:t>
            </a:r>
          </a:p>
          <a:p>
            <a:r>
              <a:rPr lang="en-US" dirty="0"/>
              <a:t>“So the motivation is to create </a:t>
            </a:r>
            <a:r>
              <a:rPr lang="en-US" b="1" dirty="0"/>
              <a:t>a faster MST computation method</a:t>
            </a:r>
            <a:r>
              <a:rPr lang="en-US" dirty="0"/>
              <a:t> that handles dynamic weight updates by reducing the workload and using parallelism.”</a:t>
            </a:r>
          </a:p>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2</a:t>
            </a:fld>
            <a:endParaRPr lang="en-US"/>
          </a:p>
        </p:txBody>
      </p:sp>
    </p:spTree>
    <p:extLst>
      <p:ext uri="{BB962C8B-B14F-4D97-AF65-F5344CB8AC3E}">
        <p14:creationId xmlns:p14="http://schemas.microsoft.com/office/powerpoint/2010/main" val="1309159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work mainly focuses on static MST computation, not dynamic updates.”</a:t>
            </a:r>
          </a:p>
          <a:p>
            <a:r>
              <a:rPr lang="en-US" dirty="0"/>
              <a:t>“Most algorithms recompute MST </a:t>
            </a:r>
            <a:r>
              <a:rPr lang="en-US" b="1" dirty="0"/>
              <a:t>from scratch</a:t>
            </a:r>
            <a:r>
              <a:rPr lang="en-US" dirty="0"/>
              <a:t> when weights change — this causes huge delays.”</a:t>
            </a:r>
          </a:p>
          <a:p>
            <a:r>
              <a:rPr lang="en-US" dirty="0"/>
              <a:t>“Parallel Kruskal exists, but not optimized for </a:t>
            </a:r>
            <a:r>
              <a:rPr lang="en-US" b="1" dirty="0"/>
              <a:t>live online queries</a:t>
            </a:r>
            <a:r>
              <a:rPr lang="en-US" dirty="0"/>
              <a:t>.”</a:t>
            </a:r>
          </a:p>
          <a:p>
            <a:r>
              <a:rPr lang="en-US" dirty="0"/>
              <a:t>“I identified gaps such as:</a:t>
            </a:r>
          </a:p>
          <a:p>
            <a:pPr>
              <a:buFont typeface="+mj-lt"/>
              <a:buAutoNum type="arabicPeriod"/>
            </a:pPr>
            <a:r>
              <a:rPr lang="en-US" dirty="0"/>
              <a:t>lack of dynamic filtering,</a:t>
            </a:r>
          </a:p>
          <a:p>
            <a:pPr>
              <a:buFont typeface="+mj-lt"/>
              <a:buAutoNum type="arabicPeriod"/>
            </a:pPr>
            <a:r>
              <a:rPr lang="en-US" dirty="0"/>
              <a:t>poor parallel resource usage,</a:t>
            </a:r>
          </a:p>
          <a:p>
            <a:pPr>
              <a:buFont typeface="+mj-lt"/>
              <a:buAutoNum type="arabicPeriod"/>
            </a:pPr>
            <a:r>
              <a:rPr lang="en-US" dirty="0"/>
              <a:t>no batching of queries.”</a:t>
            </a:r>
          </a:p>
          <a:p>
            <a:r>
              <a:rPr lang="en-US" dirty="0"/>
              <a:t>“Our approach fills these gaps by combining filtering + batching + parallel Kruskal.”</a:t>
            </a:r>
          </a:p>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3</a:t>
            </a:fld>
            <a:endParaRPr lang="en-US"/>
          </a:p>
        </p:txBody>
      </p:sp>
    </p:spTree>
    <p:extLst>
      <p:ext uri="{BB962C8B-B14F-4D97-AF65-F5344CB8AC3E}">
        <p14:creationId xmlns:p14="http://schemas.microsoft.com/office/powerpoint/2010/main" val="762207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4</a:t>
            </a:fld>
            <a:endParaRPr lang="en-US"/>
          </a:p>
        </p:txBody>
      </p:sp>
    </p:spTree>
    <p:extLst>
      <p:ext uri="{BB962C8B-B14F-4D97-AF65-F5344CB8AC3E}">
        <p14:creationId xmlns:p14="http://schemas.microsoft.com/office/powerpoint/2010/main" val="1324227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Dynamic Graph Updates</a:t>
            </a:r>
          </a:p>
          <a:p>
            <a:pPr>
              <a:buFont typeface="Arial" panose="020B0604020202020204" pitchFamily="34" charset="0"/>
              <a:buChar char="•"/>
            </a:pPr>
            <a:r>
              <a:rPr lang="en-US" dirty="0"/>
              <a:t>“Our method handles graphs where edge weights change frequently due to online queries.</a:t>
            </a:r>
            <a:br>
              <a:rPr lang="en-US" dirty="0"/>
            </a:br>
            <a:r>
              <a:rPr lang="en-US" dirty="0"/>
              <a:t>Instead of recomputing MST from scratch like classical Kruskal, we update it efficiently.”</a:t>
            </a:r>
          </a:p>
          <a:p>
            <a:r>
              <a:rPr lang="en-US" b="1" dirty="0"/>
              <a:t>2. Preprocessing &amp; Batching</a:t>
            </a:r>
          </a:p>
          <a:p>
            <a:pPr>
              <a:buFont typeface="Arial" panose="020B0604020202020204" pitchFamily="34" charset="0"/>
              <a:buChar char="•"/>
            </a:pPr>
            <a:r>
              <a:rPr lang="en-US" dirty="0"/>
              <a:t>“We preprocess edges initially and combine multiple queries into batches.</a:t>
            </a:r>
            <a:br>
              <a:rPr lang="en-US" dirty="0"/>
            </a:br>
            <a:r>
              <a:rPr lang="en-US" dirty="0"/>
              <a:t>This avoids repeated recalculations and speeds up the overall processing.”</a:t>
            </a:r>
          </a:p>
          <a:p>
            <a:r>
              <a:rPr lang="en-US" b="1" dirty="0"/>
              <a:t>3. Parallel Execution</a:t>
            </a:r>
          </a:p>
          <a:p>
            <a:pPr>
              <a:buFont typeface="Arial" panose="020B0604020202020204" pitchFamily="34" charset="0"/>
              <a:buChar char="•"/>
            </a:pPr>
            <a:r>
              <a:rPr lang="en-US" dirty="0"/>
              <a:t>“Sorting and filtering of edges happen in parallel across multiple CPU cores.</a:t>
            </a:r>
            <a:br>
              <a:rPr lang="en-US" dirty="0"/>
            </a:br>
            <a:r>
              <a:rPr lang="en-US" dirty="0"/>
              <a:t>This removes the major bottlenecks seen in sequential Kruskal and accelerates query handling.”</a:t>
            </a:r>
          </a:p>
          <a:p>
            <a:r>
              <a:rPr lang="en-US" b="1" dirty="0"/>
              <a:t>4. Binary Search on Edge Weights</a:t>
            </a:r>
          </a:p>
          <a:p>
            <a:pPr>
              <a:buFont typeface="Arial" panose="020B0604020202020204" pitchFamily="34" charset="0"/>
              <a:buChar char="•"/>
            </a:pPr>
            <a:r>
              <a:rPr lang="en-US" dirty="0"/>
              <a:t>“Binary search quickly determines whether a changed edge should be added or removed from the MST.</a:t>
            </a:r>
            <a:br>
              <a:rPr lang="en-US" dirty="0"/>
            </a:br>
            <a:r>
              <a:rPr lang="en-US" dirty="0"/>
              <a:t>This helps update the structure efficiently after each query.”</a:t>
            </a:r>
          </a:p>
          <a:p>
            <a:r>
              <a:rPr lang="en-US" b="1" dirty="0"/>
              <a:t>5. Efficient Union-Find</a:t>
            </a:r>
          </a:p>
          <a:p>
            <a:pPr>
              <a:buFont typeface="Arial" panose="020B0604020202020204" pitchFamily="34" charset="0"/>
              <a:buChar char="•"/>
            </a:pPr>
            <a:r>
              <a:rPr lang="en-US" dirty="0"/>
              <a:t>“Optimized Union-Find keeps track of connected components and prevents cycles.</a:t>
            </a:r>
            <a:br>
              <a:rPr lang="en-US" dirty="0"/>
            </a:br>
            <a:r>
              <a:rPr lang="en-US" dirty="0"/>
              <a:t>We reduce synchronization overhead to make it work smoothly with parallel steps.”</a:t>
            </a:r>
          </a:p>
          <a:p>
            <a:r>
              <a:rPr lang="en-US" b="1" dirty="0"/>
              <a:t>6. Output</a:t>
            </a:r>
          </a:p>
          <a:p>
            <a:pPr>
              <a:buFont typeface="Arial" panose="020B0604020202020204" pitchFamily="34" charset="0"/>
              <a:buChar char="•"/>
            </a:pPr>
            <a:r>
              <a:rPr lang="en-US" dirty="0"/>
              <a:t>“Finally, for every query, we output the MST cost and updated structure.</a:t>
            </a:r>
            <a:br>
              <a:rPr lang="en-US" dirty="0"/>
            </a:br>
            <a:r>
              <a:rPr lang="en-US" dirty="0"/>
              <a:t>This reflects the real-time minimum spanning tree after all dynamic changes.”</a:t>
            </a:r>
          </a:p>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6</a:t>
            </a:fld>
            <a:endParaRPr lang="en-US"/>
          </a:p>
        </p:txBody>
      </p:sp>
    </p:spTree>
    <p:extLst>
      <p:ext uri="{BB962C8B-B14F-4D97-AF65-F5344CB8AC3E}">
        <p14:creationId xmlns:p14="http://schemas.microsoft.com/office/powerpoint/2010/main" val="2572362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several algorithms together:</a:t>
            </a:r>
            <a:br>
              <a:rPr lang="en-US" dirty="0"/>
            </a:br>
            <a:r>
              <a:rPr lang="en-US" dirty="0"/>
              <a:t>• </a:t>
            </a:r>
            <a:r>
              <a:rPr lang="en-US" b="1" dirty="0"/>
              <a:t>Kruskal’s Algorithm</a:t>
            </a:r>
            <a:r>
              <a:rPr lang="en-US" dirty="0"/>
              <a:t> – the base MST technique</a:t>
            </a:r>
            <a:br>
              <a:rPr lang="en-US" dirty="0"/>
            </a:br>
            <a:r>
              <a:rPr lang="en-US" dirty="0"/>
              <a:t>• </a:t>
            </a:r>
            <a:r>
              <a:rPr lang="en-US" b="1" dirty="0"/>
              <a:t>Parallel Sorting</a:t>
            </a:r>
            <a:r>
              <a:rPr lang="en-US" dirty="0"/>
              <a:t> – speeds up edge ordering</a:t>
            </a:r>
            <a:br>
              <a:rPr lang="en-US" dirty="0"/>
            </a:br>
            <a:r>
              <a:rPr lang="en-US" dirty="0"/>
              <a:t>• </a:t>
            </a:r>
            <a:r>
              <a:rPr lang="en-US" b="1" dirty="0"/>
              <a:t>Binary Search</a:t>
            </a:r>
            <a:r>
              <a:rPr lang="en-US" dirty="0"/>
              <a:t> – quickly checks updated weights</a:t>
            </a:r>
            <a:br>
              <a:rPr lang="en-US" dirty="0"/>
            </a:br>
            <a:r>
              <a:rPr lang="en-US" dirty="0"/>
              <a:t>• </a:t>
            </a:r>
            <a:r>
              <a:rPr lang="en-US" b="1" dirty="0"/>
              <a:t>Union-Find (DSU)</a:t>
            </a:r>
            <a:r>
              <a:rPr lang="en-US" dirty="0"/>
              <a:t> – detects cycles</a:t>
            </a:r>
            <a:br>
              <a:rPr lang="en-US" dirty="0"/>
            </a:br>
            <a:r>
              <a:rPr lang="en-US" dirty="0"/>
              <a:t>• </a:t>
            </a:r>
            <a:r>
              <a:rPr lang="en-US" b="1" dirty="0"/>
              <a:t>Filtering &amp; Batch Processing</a:t>
            </a:r>
            <a:r>
              <a:rPr lang="en-US" dirty="0"/>
              <a:t> – reduces the number of edges processed.”</a:t>
            </a:r>
          </a:p>
          <a:p>
            <a:r>
              <a:rPr lang="en-US" dirty="0"/>
              <a:t>“These combined significantly accelerate MST </a:t>
            </a:r>
            <a:r>
              <a:rPr lang="en-US" dirty="0" err="1"/>
              <a:t>recomputation</a:t>
            </a:r>
            <a:r>
              <a:rPr lang="en-US" dirty="0"/>
              <a:t>.”</a:t>
            </a:r>
          </a:p>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9</a:t>
            </a:fld>
            <a:endParaRPr lang="en-US"/>
          </a:p>
        </p:txBody>
      </p:sp>
    </p:spTree>
    <p:extLst>
      <p:ext uri="{BB962C8B-B14F-4D97-AF65-F5344CB8AC3E}">
        <p14:creationId xmlns:p14="http://schemas.microsoft.com/office/powerpoint/2010/main" val="2006951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“Step 1: Preprocessing – we load all edges and convert them to fast NumPy arrays.”</a:t>
            </a:r>
          </a:p>
          <a:p>
            <a:pPr>
              <a:buFont typeface="Arial" panose="020B0604020202020204" pitchFamily="34" charset="0"/>
              <a:buChar char="•"/>
            </a:pPr>
            <a:r>
              <a:rPr lang="en-US" dirty="0"/>
              <a:t>“Step 2: For each query, we update weights using the formula </a:t>
            </a:r>
            <a:r>
              <a:rPr lang="en-US" b="1" dirty="0"/>
              <a:t>|w – x|</a:t>
            </a:r>
            <a:r>
              <a:rPr lang="en-US" dirty="0"/>
              <a:t>.”</a:t>
            </a:r>
          </a:p>
          <a:p>
            <a:pPr>
              <a:buFont typeface="Arial" panose="020B0604020202020204" pitchFamily="34" charset="0"/>
              <a:buChar char="•"/>
            </a:pPr>
            <a:r>
              <a:rPr lang="en-US" dirty="0"/>
              <a:t>“Step 3: We filter only the top 5–15% edges based on closeness to the updated value.”</a:t>
            </a:r>
          </a:p>
          <a:p>
            <a:pPr>
              <a:buFont typeface="Arial" panose="020B0604020202020204" pitchFamily="34" charset="0"/>
              <a:buChar char="•"/>
            </a:pPr>
            <a:r>
              <a:rPr lang="en-US" dirty="0"/>
              <a:t>“Step 4: Parallel sorting is applied on filtered edges only.”</a:t>
            </a:r>
          </a:p>
          <a:p>
            <a:pPr>
              <a:buFont typeface="Arial" panose="020B0604020202020204" pitchFamily="34" charset="0"/>
              <a:buChar char="•"/>
            </a:pPr>
            <a:r>
              <a:rPr lang="en-US" dirty="0"/>
              <a:t>“Step 5: Kruskal + DSU constructs the MST until we have n–1 edges.”</a:t>
            </a:r>
          </a:p>
          <a:p>
            <a:pPr>
              <a:buFont typeface="Arial" panose="020B0604020202020204" pitchFamily="34" charset="0"/>
              <a:buChar char="•"/>
            </a:pPr>
            <a:r>
              <a:rPr lang="en-US" dirty="0"/>
              <a:t>“This pipeline ensures minimal computation per query.”</a:t>
            </a:r>
          </a:p>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10</a:t>
            </a:fld>
            <a:endParaRPr lang="en-US"/>
          </a:p>
        </p:txBody>
      </p:sp>
    </p:spTree>
    <p:extLst>
      <p:ext uri="{BB962C8B-B14F-4D97-AF65-F5344CB8AC3E}">
        <p14:creationId xmlns:p14="http://schemas.microsoft.com/office/powerpoint/2010/main" val="1099270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Kruskal complexity is: </a:t>
            </a:r>
            <a:r>
              <a:rPr lang="en-US" b="1" dirty="0"/>
              <a:t>O(m log m)</a:t>
            </a:r>
            <a:r>
              <a:rPr lang="en-US" dirty="0"/>
              <a:t> due to sorting.”</a:t>
            </a:r>
          </a:p>
          <a:p>
            <a:r>
              <a:rPr lang="en-US" dirty="0"/>
              <a:t>“Our optimized version reduces work using:</a:t>
            </a:r>
            <a:br>
              <a:rPr lang="en-US" dirty="0"/>
            </a:br>
            <a:r>
              <a:rPr lang="en-US" dirty="0"/>
              <a:t>• Filtering: processes only </a:t>
            </a:r>
            <a:r>
              <a:rPr lang="en-US" b="1" dirty="0"/>
              <a:t>5–15% of edges</a:t>
            </a:r>
            <a:br>
              <a:rPr lang="en-US" dirty="0"/>
            </a:br>
            <a:r>
              <a:rPr lang="en-US" dirty="0"/>
              <a:t>• Parallel sorting: reduces sorting time to </a:t>
            </a:r>
            <a:r>
              <a:rPr lang="en-US" b="1" dirty="0"/>
              <a:t>O((m log m) / p)</a:t>
            </a:r>
            <a:r>
              <a:rPr lang="en-US" dirty="0"/>
              <a:t> where p = number of cores.”</a:t>
            </a:r>
          </a:p>
          <a:p>
            <a:r>
              <a:rPr lang="en-US" dirty="0"/>
              <a:t>“Union-Find operations almost run in </a:t>
            </a:r>
            <a:r>
              <a:rPr lang="en-US" b="1" dirty="0"/>
              <a:t>O(α(n)) ≈ constant</a:t>
            </a:r>
            <a:r>
              <a:rPr lang="en-US" dirty="0"/>
              <a:t>.”</a:t>
            </a:r>
          </a:p>
          <a:p>
            <a:r>
              <a:rPr lang="en-US" dirty="0"/>
              <a:t>“Space complexity remains </a:t>
            </a:r>
            <a:r>
              <a:rPr lang="en-US" b="1" dirty="0"/>
              <a:t>O(m + n)</a:t>
            </a:r>
            <a:r>
              <a:rPr lang="en-US" dirty="0"/>
              <a:t> for edges &amp; DSU arrays.”</a:t>
            </a:r>
          </a:p>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13</a:t>
            </a:fld>
            <a:endParaRPr lang="en-US"/>
          </a:p>
        </p:txBody>
      </p:sp>
    </p:spTree>
    <p:extLst>
      <p:ext uri="{BB962C8B-B14F-4D97-AF65-F5344CB8AC3E}">
        <p14:creationId xmlns:p14="http://schemas.microsoft.com/office/powerpoint/2010/main" val="3297956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14</a:t>
            </a:fld>
            <a:endParaRPr lang="en-US"/>
          </a:p>
        </p:txBody>
      </p:sp>
    </p:spTree>
    <p:extLst>
      <p:ext uri="{BB962C8B-B14F-4D97-AF65-F5344CB8AC3E}">
        <p14:creationId xmlns:p14="http://schemas.microsoft.com/office/powerpoint/2010/main" val="1991971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method solves a real problem for dynamic MST systems in modern networks.</a:t>
            </a:r>
          </a:p>
          <a:p>
            <a:endParaRPr lang="en-US" dirty="0"/>
          </a:p>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15</a:t>
            </a:fld>
            <a:endParaRPr lang="en-US"/>
          </a:p>
        </p:txBody>
      </p:sp>
    </p:spTree>
    <p:extLst>
      <p:ext uri="{BB962C8B-B14F-4D97-AF65-F5344CB8AC3E}">
        <p14:creationId xmlns:p14="http://schemas.microsoft.com/office/powerpoint/2010/main" val="3196140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references we used in designing and understanding the algorithms.”</a:t>
            </a:r>
          </a:p>
          <a:p>
            <a:r>
              <a:rPr lang="en-US" dirty="0"/>
              <a:t>“They include research papers on Kruskal’s algorithm, parallel computation, and dynamic MST techniques.”</a:t>
            </a:r>
          </a:p>
          <a:p>
            <a:endParaRPr lang="en-US" dirty="0"/>
          </a:p>
        </p:txBody>
      </p:sp>
      <p:sp>
        <p:nvSpPr>
          <p:cNvPr id="4" name="Slide Number Placeholder 3"/>
          <p:cNvSpPr>
            <a:spLocks noGrp="1"/>
          </p:cNvSpPr>
          <p:nvPr>
            <p:ph type="sldNum" sz="quarter" idx="5"/>
          </p:nvPr>
        </p:nvSpPr>
        <p:spPr/>
        <p:txBody>
          <a:bodyPr/>
          <a:lstStyle/>
          <a:p>
            <a:fld id="{D678E43E-8910-4C68-B2D4-9BBE43C8AD6D}" type="slidenum">
              <a:rPr lang="en-US" smtClean="0"/>
              <a:t>16</a:t>
            </a:fld>
            <a:endParaRPr lang="en-US"/>
          </a:p>
        </p:txBody>
      </p:sp>
    </p:spTree>
    <p:extLst>
      <p:ext uri="{BB962C8B-B14F-4D97-AF65-F5344CB8AC3E}">
        <p14:creationId xmlns:p14="http://schemas.microsoft.com/office/powerpoint/2010/main" val="2425788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3384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2735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5756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497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016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0514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1164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2311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47893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3585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12911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7435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80660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1152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7655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1544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12/7/2025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74255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66445" y="941439"/>
            <a:ext cx="5355017" cy="3381289"/>
          </a:xfrm>
        </p:spPr>
        <p:txBody>
          <a:bodyPr>
            <a:noAutofit/>
          </a:bodyPr>
          <a:lstStyle/>
          <a:p>
            <a:pPr algn="ctr"/>
            <a:r>
              <a:rPr sz="4000" dirty="0"/>
              <a:t>Online Query Optimization using an Effective </a:t>
            </a:r>
            <a:r>
              <a:rPr sz="3600" dirty="0"/>
              <a:t>Kruskal’s</a:t>
            </a:r>
            <a:r>
              <a:rPr sz="4000" dirty="0"/>
              <a:t> Algorithm</a:t>
            </a:r>
            <a:r>
              <a:rPr lang="en-US" sz="4000" dirty="0"/>
              <a:t> </a:t>
            </a:r>
            <a:r>
              <a:rPr lang="en-US" sz="4000" b="0" i="0" dirty="0">
                <a:effectLst/>
                <a:latin typeface="fkGroteskNeue"/>
              </a:rPr>
              <a:t>with parallel algorithm approach</a:t>
            </a:r>
            <a:endParaRPr sz="4000" dirty="0"/>
          </a:p>
        </p:txBody>
      </p:sp>
      <p:sp>
        <p:nvSpPr>
          <p:cNvPr id="3" name="Subtitle 2"/>
          <p:cNvSpPr>
            <a:spLocks noGrp="1"/>
          </p:cNvSpPr>
          <p:nvPr>
            <p:ph type="subTitle" idx="1"/>
          </p:nvPr>
        </p:nvSpPr>
        <p:spPr>
          <a:xfrm>
            <a:off x="1366445" y="4434669"/>
            <a:ext cx="5826719" cy="1096899"/>
          </a:xfrm>
        </p:spPr>
        <p:txBody>
          <a:bodyPr/>
          <a:lstStyle/>
          <a:p>
            <a:r>
              <a:rPr dirty="0"/>
              <a:t>Fast MST computation for dynamic edge-weight graphs</a:t>
            </a:r>
          </a:p>
        </p:txBody>
      </p:sp>
    </p:spTree>
  </p:cSld>
  <p:clrMapOvr>
    <a:masterClrMapping/>
  </p:clrMapOvr>
  <mc:AlternateContent xmlns:mc="http://schemas.openxmlformats.org/markup-compatibility/2006" xmlns:p14="http://schemas.microsoft.com/office/powerpoint/2010/main">
    <mc:Choice Requires="p14">
      <p:transition spd="slow" p14:dur="2000" advTm="21024"/>
    </mc:Choice>
    <mc:Fallback xmlns="">
      <p:transition spd="slow" advTm="2102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3" name="Content Placeholder 2"/>
          <p:cNvSpPr>
            <a:spLocks noGrp="1"/>
          </p:cNvSpPr>
          <p:nvPr>
            <p:ph idx="1"/>
          </p:nvPr>
        </p:nvSpPr>
        <p:spPr>
          <a:xfrm>
            <a:off x="609598" y="1556582"/>
            <a:ext cx="6755936" cy="3880773"/>
          </a:xfrm>
        </p:spPr>
        <p:txBody>
          <a:bodyPr>
            <a:normAutofit lnSpcReduction="10000"/>
          </a:bodyPr>
          <a:lstStyle/>
          <a:p>
            <a:pPr marL="0" indent="0">
              <a:buNone/>
              <a:defRPr sz="2000"/>
            </a:pPr>
            <a:endParaRPr lang="en-US" dirty="0"/>
          </a:p>
          <a:p>
            <a:pPr algn="l">
              <a:buFont typeface="Wingdings" panose="05000000000000000000" pitchFamily="2" charset="2"/>
              <a:buChar char="Ø"/>
            </a:pPr>
            <a:r>
              <a:rPr lang="en-US" sz="1800" b="0" i="0" dirty="0">
                <a:effectLst/>
                <a:latin typeface="fkGroteskNeue"/>
              </a:rPr>
              <a:t>Many online queries dynamically change the weights on the edges of a large graph, making frequent recalculation of the minimum spanning tree (MST) necessary.​</a:t>
            </a:r>
          </a:p>
          <a:p>
            <a:pPr algn="l">
              <a:buFont typeface="Wingdings" panose="05000000000000000000" pitchFamily="2" charset="2"/>
              <a:buChar char="Ø"/>
            </a:pPr>
            <a:endParaRPr lang="en-US" sz="1800" b="0" i="0" dirty="0">
              <a:effectLst/>
              <a:latin typeface="fkGroteskNeue"/>
            </a:endParaRPr>
          </a:p>
          <a:p>
            <a:pPr algn="l">
              <a:buFont typeface="Wingdings" panose="05000000000000000000" pitchFamily="2" charset="2"/>
              <a:buChar char="Ø"/>
            </a:pPr>
            <a:r>
              <a:rPr lang="en-US" sz="1800" b="0" i="0" dirty="0">
                <a:effectLst/>
                <a:latin typeface="fkGroteskNeue"/>
              </a:rPr>
              <a:t>Classical Kruskal’s algorithm is too slow for such real-time updates, especially in large networks, due to its sequential nature.​</a:t>
            </a:r>
          </a:p>
          <a:p>
            <a:pPr algn="l">
              <a:buFont typeface="Wingdings" panose="05000000000000000000" pitchFamily="2" charset="2"/>
              <a:buChar char="Ø"/>
            </a:pPr>
            <a:endParaRPr lang="en-US" sz="1800" b="0" i="0" dirty="0">
              <a:effectLst/>
              <a:latin typeface="fkGroteskNeue"/>
            </a:endParaRPr>
          </a:p>
          <a:p>
            <a:pPr>
              <a:buFont typeface="Wingdings" panose="05000000000000000000" pitchFamily="2" charset="2"/>
              <a:buChar char="Ø"/>
            </a:pPr>
            <a:r>
              <a:rPr lang="en-US" sz="1800" b="0" i="0" dirty="0">
                <a:effectLst/>
                <a:latin typeface="fkGroteskNeue"/>
              </a:rPr>
              <a:t>The challenge is to optimize Kruskal’s algorithm so that it efficiently supports dynamic updates by leveraging parallel processing to handle real-time, large-scale graphs, thereby reducing the time complexity for each dynamic MST query.</a:t>
            </a:r>
          </a:p>
          <a:p>
            <a:pPr marL="0" indent="0">
              <a:buNone/>
              <a:defRPr sz="2000"/>
            </a:pPr>
            <a:endParaRPr dirty="0"/>
          </a:p>
        </p:txBody>
      </p:sp>
    </p:spTree>
  </p:cSld>
  <p:clrMapOvr>
    <a:masterClrMapping/>
  </p:clrMapOvr>
  <mc:AlternateContent xmlns:mc="http://schemas.openxmlformats.org/markup-compatibility/2006" xmlns:p14="http://schemas.microsoft.com/office/powerpoint/2010/main">
    <mc:Choice Requires="p14">
      <p:transition spd="slow" p14:dur="2000" advTm="32541"/>
    </mc:Choice>
    <mc:Fallback xmlns="">
      <p:transition spd="slow" advTm="3254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Review</a:t>
            </a:r>
            <a:endParaRPr dirty="0"/>
          </a:p>
        </p:txBody>
      </p:sp>
      <p:sp>
        <p:nvSpPr>
          <p:cNvPr id="3" name="Content Placeholder 2"/>
          <p:cNvSpPr>
            <a:spLocks noGrp="1"/>
          </p:cNvSpPr>
          <p:nvPr>
            <p:ph idx="1"/>
          </p:nvPr>
        </p:nvSpPr>
        <p:spPr>
          <a:xfrm>
            <a:off x="609598" y="1556582"/>
            <a:ext cx="6755936" cy="3880773"/>
          </a:xfrm>
        </p:spPr>
        <p:txBody>
          <a:bodyPr>
            <a:normAutofit/>
          </a:bodyPr>
          <a:lstStyle/>
          <a:p>
            <a:pPr marL="0" indent="0" algn="l">
              <a:buNone/>
            </a:pPr>
            <a:endParaRPr lang="en-US" sz="1800" b="0" i="0" dirty="0">
              <a:effectLst/>
              <a:latin typeface="fkGroteskNeue"/>
            </a:endParaRPr>
          </a:p>
          <a:p>
            <a:pPr marL="0" indent="0" algn="l">
              <a:buNone/>
            </a:pPr>
            <a:endParaRPr dirty="0"/>
          </a:p>
        </p:txBody>
      </p:sp>
      <p:graphicFrame>
        <p:nvGraphicFramePr>
          <p:cNvPr id="4" name="Table 3">
            <a:extLst>
              <a:ext uri="{FF2B5EF4-FFF2-40B4-BE49-F238E27FC236}">
                <a16:creationId xmlns:a16="http://schemas.microsoft.com/office/drawing/2014/main" id="{F09F0A41-5425-E26E-9EB0-1E305B587032}"/>
              </a:ext>
            </a:extLst>
          </p:cNvPr>
          <p:cNvGraphicFramePr>
            <a:graphicFrameLocks noGrp="1"/>
          </p:cNvGraphicFramePr>
          <p:nvPr>
            <p:extLst>
              <p:ext uri="{D42A27DB-BD31-4B8C-83A1-F6EECF244321}">
                <p14:modId xmlns:p14="http://schemas.microsoft.com/office/powerpoint/2010/main" val="4268580515"/>
              </p:ext>
            </p:extLst>
          </p:nvPr>
        </p:nvGraphicFramePr>
        <p:xfrm>
          <a:off x="755009" y="1420645"/>
          <a:ext cx="6694412" cy="4763610"/>
        </p:xfrm>
        <a:graphic>
          <a:graphicData uri="http://schemas.openxmlformats.org/drawingml/2006/table">
            <a:tbl>
              <a:tblPr/>
              <a:tblGrid>
                <a:gridCol w="1673603">
                  <a:extLst>
                    <a:ext uri="{9D8B030D-6E8A-4147-A177-3AD203B41FA5}">
                      <a16:colId xmlns:a16="http://schemas.microsoft.com/office/drawing/2014/main" val="3464297152"/>
                    </a:ext>
                  </a:extLst>
                </a:gridCol>
                <a:gridCol w="1673603">
                  <a:extLst>
                    <a:ext uri="{9D8B030D-6E8A-4147-A177-3AD203B41FA5}">
                      <a16:colId xmlns:a16="http://schemas.microsoft.com/office/drawing/2014/main" val="3706515762"/>
                    </a:ext>
                  </a:extLst>
                </a:gridCol>
                <a:gridCol w="1673603">
                  <a:extLst>
                    <a:ext uri="{9D8B030D-6E8A-4147-A177-3AD203B41FA5}">
                      <a16:colId xmlns:a16="http://schemas.microsoft.com/office/drawing/2014/main" val="3859689740"/>
                    </a:ext>
                  </a:extLst>
                </a:gridCol>
                <a:gridCol w="1673603">
                  <a:extLst>
                    <a:ext uri="{9D8B030D-6E8A-4147-A177-3AD203B41FA5}">
                      <a16:colId xmlns:a16="http://schemas.microsoft.com/office/drawing/2014/main" val="2615089012"/>
                    </a:ext>
                  </a:extLst>
                </a:gridCol>
              </a:tblGrid>
              <a:tr h="156692">
                <a:tc>
                  <a:txBody>
                    <a:bodyPr/>
                    <a:lstStyle/>
                    <a:p>
                      <a:r>
                        <a:rPr lang="en-US" sz="1000" b="1" dirty="0">
                          <a:solidFill>
                            <a:srgbClr val="FF0000"/>
                          </a:solidFill>
                        </a:rPr>
                        <a:t>Authors</a:t>
                      </a:r>
                      <a:endParaRPr lang="en-US" sz="1000" dirty="0">
                        <a:solidFill>
                          <a:srgbClr val="FF0000"/>
                        </a:solidFill>
                      </a:endParaRP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US" sz="1000" b="1" dirty="0">
                          <a:solidFill>
                            <a:srgbClr val="FF0000"/>
                          </a:solidFill>
                        </a:rPr>
                        <a:t>Title</a:t>
                      </a:r>
                      <a:endParaRPr lang="en-US" sz="1000" dirty="0">
                        <a:solidFill>
                          <a:srgbClr val="FF0000"/>
                        </a:solidFill>
                      </a:endParaRP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US" sz="1000" b="1" dirty="0">
                          <a:solidFill>
                            <a:srgbClr val="FF0000"/>
                          </a:solidFill>
                        </a:rPr>
                        <a:t>Problem They Solve</a:t>
                      </a:r>
                      <a:endParaRPr lang="en-US" sz="1000" dirty="0">
                        <a:solidFill>
                          <a:srgbClr val="FF0000"/>
                        </a:solidFill>
                      </a:endParaRP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US" sz="1000" b="1" dirty="0">
                          <a:solidFill>
                            <a:srgbClr val="FF0000"/>
                          </a:solidFill>
                        </a:rPr>
                        <a:t>Limitations</a:t>
                      </a:r>
                      <a:endParaRPr lang="en-US" sz="1000" dirty="0">
                        <a:solidFill>
                          <a:srgbClr val="FF0000"/>
                        </a:solidFill>
                      </a:endParaRP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617563829"/>
                  </a:ext>
                </a:extLst>
              </a:tr>
              <a:tr h="1029693">
                <a:tc>
                  <a:txBody>
                    <a:bodyPr/>
                    <a:lstStyle/>
                    <a:p>
                      <a:r>
                        <a:rPr lang="en-US" sz="1000" b="1"/>
                        <a:t>Anderson et al. (2020)</a:t>
                      </a:r>
                      <a:endParaRPr lang="en-US" sz="1000"/>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i="1" dirty="0"/>
                        <a:t>Work-efficient batch-incremental minimum spanning trees with applications to the sliding-window model</a:t>
                      </a:r>
                      <a:endParaRPr lang="en-US" sz="1000" dirty="0"/>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Introduces a batch-incremental MST algorithm that efficiently handles multiple edge insertions using a sliding window model.</a:t>
                      </a: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t>Supports only </a:t>
                      </a:r>
                      <a:r>
                        <a:rPr lang="en-US" sz="1000" b="1" dirty="0"/>
                        <a:t>edge insertions</a:t>
                      </a:r>
                      <a:r>
                        <a:rPr lang="en-US" sz="1000" dirty="0"/>
                        <a:t>, not global dynamic weight changes; does not handle cases where all edge weights shift for each query (your scenario).</a:t>
                      </a: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9268287"/>
                  </a:ext>
                </a:extLst>
              </a:tr>
              <a:tr h="895385">
                <a:tc>
                  <a:txBody>
                    <a:bodyPr/>
                    <a:lstStyle/>
                    <a:p>
                      <a:r>
                        <a:rPr lang="en-US" sz="1000" b="1" dirty="0"/>
                        <a:t>Wang et al. (2021)</a:t>
                      </a:r>
                      <a:endParaRPr lang="en-US" sz="1000" dirty="0"/>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000" i="1" dirty="0"/>
                        <a:t>Fast parallel algorithms for Euclidean MST and hierarchical spatial clustering</a:t>
                      </a:r>
                      <a:endParaRPr lang="en-US" sz="1000" dirty="0"/>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000" dirty="0"/>
                        <a:t>Develops highly optimized parallel algorithms for Euclidean MST with large speedups over sequential versions.</a:t>
                      </a: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000" dirty="0"/>
                        <a:t>Works mainly for </a:t>
                      </a:r>
                      <a:r>
                        <a:rPr lang="en-US" sz="1000" b="1" dirty="0"/>
                        <a:t>Euclidean graphs</a:t>
                      </a:r>
                      <a:r>
                        <a:rPr lang="en-US" sz="1000" dirty="0"/>
                        <a:t>; limited extension to general weighted graphs; lacks support for dynamic queries or online updates.</a:t>
                      </a: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148115555"/>
                  </a:ext>
                </a:extLst>
              </a:tr>
              <a:tr h="693924">
                <a:tc>
                  <a:txBody>
                    <a:bodyPr/>
                    <a:lstStyle/>
                    <a:p>
                      <a:r>
                        <a:rPr lang="en-US" sz="1000" b="1"/>
                        <a:t>Srinivasan et al. (2018)</a:t>
                      </a:r>
                      <a:endParaRPr lang="en-US" sz="1000"/>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i="1" dirty="0"/>
                        <a:t>Shared-memory algorithm for updating tree-based properties of large dynamic networks</a:t>
                      </a:r>
                      <a:endParaRPr lang="en-US" sz="1000" dirty="0"/>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t>Provides a parallel method to update MST properties efficiently when edge weights change.</a:t>
                      </a: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Supports only </a:t>
                      </a:r>
                      <a:r>
                        <a:rPr lang="en-US" sz="1000" b="1"/>
                        <a:t>localized updates</a:t>
                      </a:r>
                      <a:r>
                        <a:rPr lang="en-US" sz="1000"/>
                        <a:t>; not designed for large-scale dynamic queries that change </a:t>
                      </a:r>
                      <a:r>
                        <a:rPr lang="en-US" sz="1000" b="1"/>
                        <a:t>all edge weights</a:t>
                      </a:r>
                      <a:r>
                        <a:rPr lang="en-US" sz="1000"/>
                        <a:t> globally.</a:t>
                      </a: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0501509"/>
                  </a:ext>
                </a:extLst>
              </a:tr>
              <a:tr h="828231">
                <a:tc>
                  <a:txBody>
                    <a:bodyPr/>
                    <a:lstStyle/>
                    <a:p>
                      <a:r>
                        <a:rPr lang="en-US" sz="1000" b="1" dirty="0"/>
                        <a:t>Adler et al. (1998)</a:t>
                      </a:r>
                      <a:endParaRPr lang="en-US" sz="1000" dirty="0"/>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000" i="1" dirty="0"/>
                        <a:t>Communication-optimal parallel MST algorithms</a:t>
                      </a:r>
                      <a:endParaRPr lang="en-US" sz="1000" dirty="0"/>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000" dirty="0"/>
                        <a:t>Proposes the first linear-time MST algorithm in the BSP parallel computation model.</a:t>
                      </a: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1000" dirty="0"/>
                        <a:t>Designed for static graphs; no support for dynamic updates or online query optimization; high communication overhead on real systems.</a:t>
                      </a: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334513036"/>
                  </a:ext>
                </a:extLst>
              </a:tr>
              <a:tr h="895385">
                <a:tc>
                  <a:txBody>
                    <a:bodyPr/>
                    <a:lstStyle/>
                    <a:p>
                      <a:r>
                        <a:rPr lang="en-US" sz="1000" b="1"/>
                        <a:t>Guttoski et al. (2007)</a:t>
                      </a:r>
                      <a:endParaRPr lang="en-US" sz="1000"/>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i="1"/>
                        <a:t>Kruskal’s Algorithm for Query Tree Optimization</a:t>
                      </a:r>
                      <a:endParaRPr lang="en-US" sz="1000"/>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Uses Kruskal’s algorithm for optimizing database query trees and shows it outperforms default PostgreSQL optimization.</a:t>
                      </a: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t>Works only for </a:t>
                      </a:r>
                      <a:r>
                        <a:rPr lang="en-US" sz="1000" b="1" dirty="0"/>
                        <a:t>static query trees</a:t>
                      </a:r>
                      <a:r>
                        <a:rPr lang="en-US" sz="1000" dirty="0"/>
                        <a:t>; does not scale to dynamic online queries or graphs with millions of edges; no parallelization.</a:t>
                      </a:r>
                    </a:p>
                  </a:txBody>
                  <a:tcPr marL="19311" marR="19311" marT="9655" marB="96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0613109"/>
                  </a:ext>
                </a:extLst>
              </a:tr>
            </a:tbl>
          </a:graphicData>
        </a:graphic>
      </p:graphicFrame>
    </p:spTree>
    <p:extLst>
      <p:ext uri="{BB962C8B-B14F-4D97-AF65-F5344CB8AC3E}">
        <p14:creationId xmlns:p14="http://schemas.microsoft.com/office/powerpoint/2010/main" val="1218598544"/>
      </p:ext>
    </p:extLst>
  </p:cSld>
  <p:clrMapOvr>
    <a:masterClrMapping/>
  </p:clrMapOvr>
  <mc:AlternateContent xmlns:mc="http://schemas.openxmlformats.org/markup-compatibility/2006" xmlns:p14="http://schemas.microsoft.com/office/powerpoint/2010/main">
    <mc:Choice Requires="p14">
      <p:transition spd="slow" p14:dur="2000" advTm="37440"/>
    </mc:Choice>
    <mc:Fallback xmlns="">
      <p:transition spd="slow" advTm="3744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INPUT</a:t>
            </a:r>
            <a:endParaRPr dirty="0"/>
          </a:p>
        </p:txBody>
      </p:sp>
      <p:sp>
        <p:nvSpPr>
          <p:cNvPr id="3" name="Content Placeholder 2"/>
          <p:cNvSpPr>
            <a:spLocks noGrp="1"/>
          </p:cNvSpPr>
          <p:nvPr>
            <p:ph idx="1"/>
          </p:nvPr>
        </p:nvSpPr>
        <p:spPr>
          <a:xfrm>
            <a:off x="450208" y="1699195"/>
            <a:ext cx="6347714" cy="3880773"/>
          </a:xfrm>
        </p:spPr>
        <p:txBody>
          <a:bodyPr/>
          <a:lstStyle/>
          <a:p>
            <a:pPr algn="l"/>
            <a:r>
              <a:rPr lang="en-US" b="1" i="0" dirty="0">
                <a:effectLst/>
                <a:latin typeface="fkGroteskNeue"/>
              </a:rPr>
              <a:t>Graph Definition:</a:t>
            </a:r>
            <a:br>
              <a:rPr lang="en-US" b="1" i="0" dirty="0">
                <a:effectLst/>
                <a:latin typeface="fkGroteskNeue"/>
              </a:rPr>
            </a:br>
            <a:r>
              <a:rPr lang="en-US" b="0" i="0" dirty="0">
                <a:effectLst/>
                <a:latin typeface="fkGroteskNeue"/>
              </a:rPr>
              <a:t>An undirected weighted graph </a:t>
            </a:r>
            <a:r>
              <a:rPr lang="en-US" b="0" i="0" dirty="0">
                <a:effectLst/>
                <a:latin typeface="KaTeX_Main"/>
              </a:rPr>
              <a:t>G(V,E)</a:t>
            </a:r>
            <a:r>
              <a:rPr lang="en-US" b="0" i="0" dirty="0">
                <a:effectLst/>
                <a:latin typeface="fkGroteskNeue"/>
              </a:rPr>
              <a:t> with </a:t>
            </a:r>
            <a:r>
              <a:rPr lang="en-US" b="0" i="0" dirty="0">
                <a:effectLst/>
                <a:latin typeface="KaTeX_Main"/>
              </a:rPr>
              <a:t>n</a:t>
            </a:r>
            <a:r>
              <a:rPr lang="en-US" b="0" i="0" dirty="0">
                <a:effectLst/>
                <a:latin typeface="fkGroteskNeue"/>
              </a:rPr>
              <a:t> vertices and </a:t>
            </a:r>
            <a:r>
              <a:rPr lang="en-US" b="0" i="0" dirty="0">
                <a:effectLst/>
                <a:latin typeface="KaTeX_Main"/>
              </a:rPr>
              <a:t>m</a:t>
            </a:r>
            <a:r>
              <a:rPr lang="en-US" i="1" dirty="0">
                <a:latin typeface="KaTeX_Math"/>
              </a:rPr>
              <a:t> </a:t>
            </a:r>
            <a:r>
              <a:rPr lang="en-US" b="0" i="0" dirty="0">
                <a:effectLst/>
                <a:latin typeface="fkGroteskNeue"/>
              </a:rPr>
              <a:t>edges.​​</a:t>
            </a:r>
          </a:p>
          <a:p>
            <a:pPr algn="l"/>
            <a:r>
              <a:rPr lang="en-US" b="1" i="0" dirty="0">
                <a:effectLst/>
                <a:latin typeface="fkGroteskNeue"/>
              </a:rPr>
              <a:t>Edge Details:</a:t>
            </a:r>
            <a:br>
              <a:rPr lang="en-US" b="0" i="0" dirty="0">
                <a:effectLst/>
                <a:latin typeface="fkGroteskNeue"/>
              </a:rPr>
            </a:br>
            <a:r>
              <a:rPr lang="en-US" b="0" i="0" dirty="0">
                <a:effectLst/>
                <a:latin typeface="fkGroteskNeue"/>
              </a:rPr>
              <a:t>Each edge has an associated weight that can be dynamically updated through queries.​</a:t>
            </a:r>
          </a:p>
          <a:p>
            <a:pPr algn="l"/>
            <a:r>
              <a:rPr lang="en-US" b="1" i="0" dirty="0">
                <a:effectLst/>
                <a:latin typeface="fkGroteskNeue"/>
              </a:rPr>
              <a:t>Dynamic Queries:</a:t>
            </a:r>
            <a:br>
              <a:rPr lang="en-US" b="0" i="0" dirty="0">
                <a:effectLst/>
                <a:latin typeface="fkGroteskNeue"/>
              </a:rPr>
            </a:br>
            <a:r>
              <a:rPr lang="en-US" b="0" i="0" dirty="0">
                <a:effectLst/>
                <a:latin typeface="fkGroteskNeue"/>
              </a:rPr>
              <a:t>A series of online queries </a:t>
            </a:r>
            <a:r>
              <a:rPr lang="en-US" b="0" i="0" dirty="0">
                <a:effectLst/>
                <a:latin typeface="KaTeX_Main"/>
              </a:rPr>
              <a:t>q</a:t>
            </a:r>
            <a:r>
              <a:rPr lang="en-US" b="0" i="0" dirty="0">
                <a:effectLst/>
                <a:latin typeface="fkGroteskNeue"/>
              </a:rPr>
              <a:t> where each query may update the weight of one or more edges, requiring MST recalculation</a:t>
            </a:r>
          </a:p>
          <a:p>
            <a:pPr marL="0" indent="0">
              <a:buNone/>
            </a:pPr>
            <a:endParaRPr dirty="0"/>
          </a:p>
        </p:txBody>
      </p:sp>
    </p:spTree>
  </p:cSld>
  <p:clrMapOvr>
    <a:masterClrMapping/>
  </p:clrMapOvr>
  <mc:AlternateContent xmlns:mc="http://schemas.openxmlformats.org/markup-compatibility/2006" xmlns:p14="http://schemas.microsoft.com/office/powerpoint/2010/main">
    <mc:Choice Requires="p14">
      <p:transition spd="slow" p14:dur="2000" advTm="25250"/>
    </mc:Choice>
    <mc:Fallback xmlns="">
      <p:transition spd="slow" advTm="2525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OUTPUT</a:t>
            </a:r>
            <a:endParaRPr dirty="0"/>
          </a:p>
        </p:txBody>
      </p:sp>
      <p:sp>
        <p:nvSpPr>
          <p:cNvPr id="3" name="Content Placeholder 2"/>
          <p:cNvSpPr>
            <a:spLocks noGrp="1"/>
          </p:cNvSpPr>
          <p:nvPr>
            <p:ph idx="1"/>
          </p:nvPr>
        </p:nvSpPr>
        <p:spPr>
          <a:xfrm>
            <a:off x="609599" y="1766307"/>
            <a:ext cx="6347714" cy="3880773"/>
          </a:xfrm>
        </p:spPr>
        <p:txBody>
          <a:bodyPr/>
          <a:lstStyle/>
          <a:p>
            <a:pPr algn="l">
              <a:buFont typeface="Wingdings" panose="05000000000000000000" pitchFamily="2" charset="2"/>
              <a:buChar char="v"/>
            </a:pPr>
            <a:r>
              <a:rPr lang="en-US" b="1" i="0" dirty="0">
                <a:effectLst/>
                <a:latin typeface="fkGroteskNeue"/>
              </a:rPr>
              <a:t>MST Cost After Each Query:</a:t>
            </a:r>
            <a:br>
              <a:rPr lang="en-US" b="1" i="0" dirty="0">
                <a:effectLst/>
                <a:latin typeface="fkGroteskNeue"/>
              </a:rPr>
            </a:br>
            <a:r>
              <a:rPr lang="en-US" b="0" i="0" dirty="0">
                <a:effectLst/>
                <a:latin typeface="fkGroteskNeue"/>
              </a:rPr>
              <a:t>For every query, output the total cost of the current Minimum Spanning Tree (sum of selected MST edge weights).​​</a:t>
            </a:r>
          </a:p>
          <a:p>
            <a:pPr algn="l">
              <a:buFont typeface="Wingdings" panose="05000000000000000000" pitchFamily="2" charset="2"/>
              <a:buChar char="v"/>
            </a:pPr>
            <a:r>
              <a:rPr lang="en-US" b="1" i="0" dirty="0">
                <a:effectLst/>
                <a:latin typeface="fkGroteskNeue"/>
              </a:rPr>
              <a:t>Updated MST Structure:</a:t>
            </a:r>
            <a:br>
              <a:rPr lang="en-US" b="0" i="0" dirty="0">
                <a:effectLst/>
                <a:latin typeface="fkGroteskNeue"/>
              </a:rPr>
            </a:br>
            <a:r>
              <a:rPr lang="en-US" b="0" i="0" dirty="0">
                <a:effectLst/>
                <a:latin typeface="fkGroteskNeue"/>
              </a:rPr>
              <a:t>The set of edges that make up the new MST after the update, showing which connections have changed due to parallel </a:t>
            </a:r>
            <a:r>
              <a:rPr lang="en-US" b="0" i="0" dirty="0" err="1">
                <a:effectLst/>
                <a:latin typeface="fkGroteskNeue"/>
              </a:rPr>
              <a:t>recomputation</a:t>
            </a:r>
            <a:r>
              <a:rPr lang="en-US" b="0" i="0" dirty="0">
                <a:effectLst/>
                <a:latin typeface="fkGroteskNeue"/>
              </a:rPr>
              <a:t>.​</a:t>
            </a:r>
          </a:p>
          <a:p>
            <a:pPr algn="l">
              <a:buFont typeface="Wingdings" panose="05000000000000000000" pitchFamily="2" charset="2"/>
              <a:buChar char="v"/>
            </a:pPr>
            <a:r>
              <a:rPr lang="en-US" b="1" i="0" dirty="0">
                <a:effectLst/>
                <a:latin typeface="fkGroteskNeue"/>
              </a:rPr>
              <a:t>Efficiency Metrics:</a:t>
            </a:r>
            <a:br>
              <a:rPr lang="en-US" b="0" i="0" dirty="0">
                <a:effectLst/>
                <a:latin typeface="fkGroteskNeue"/>
              </a:rPr>
            </a:br>
            <a:r>
              <a:rPr lang="en-US" b="0" i="0" dirty="0">
                <a:effectLst/>
                <a:latin typeface="fkGroteskNeue"/>
              </a:rPr>
              <a:t>Time taken to respond to each query using the parallel Kruskal approach (can show comparative timings against sequential)</a:t>
            </a:r>
          </a:p>
          <a:p>
            <a:pPr marL="0" indent="0">
              <a:buNone/>
            </a:pPr>
            <a:endParaRPr dirty="0"/>
          </a:p>
        </p:txBody>
      </p:sp>
    </p:spTree>
    <p:extLst>
      <p:ext uri="{BB962C8B-B14F-4D97-AF65-F5344CB8AC3E}">
        <p14:creationId xmlns:p14="http://schemas.microsoft.com/office/powerpoint/2010/main" val="661904576"/>
      </p:ext>
    </p:extLst>
  </p:cSld>
  <p:clrMapOvr>
    <a:masterClrMapping/>
  </p:clrMapOvr>
  <mc:AlternateContent xmlns:mc="http://schemas.openxmlformats.org/markup-compatibility/2006" xmlns:p14="http://schemas.microsoft.com/office/powerpoint/2010/main">
    <mc:Choice Requires="p14">
      <p:transition spd="slow" p14:dur="2000" advTm="32053"/>
    </mc:Choice>
    <mc:Fallback xmlns="">
      <p:transition spd="slow" advTm="3205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EXPLANATION</a:t>
            </a:r>
            <a:endParaRPr dirty="0"/>
          </a:p>
        </p:txBody>
      </p:sp>
      <p:sp>
        <p:nvSpPr>
          <p:cNvPr id="3" name="Content Placeholder 2"/>
          <p:cNvSpPr>
            <a:spLocks noGrp="1"/>
          </p:cNvSpPr>
          <p:nvPr>
            <p:ph idx="1"/>
          </p:nvPr>
        </p:nvSpPr>
        <p:spPr>
          <a:xfrm>
            <a:off x="408262" y="1422358"/>
            <a:ext cx="7007605" cy="4944886"/>
          </a:xfrm>
        </p:spPr>
        <p:txBody>
          <a:bodyPr>
            <a:normAutofit fontScale="70000" lnSpcReduction="20000"/>
          </a:bodyPr>
          <a:lstStyle/>
          <a:p>
            <a:pPr algn="l">
              <a:buFont typeface="Wingdings" panose="05000000000000000000" pitchFamily="2" charset="2"/>
              <a:buChar char="v"/>
            </a:pPr>
            <a:r>
              <a:rPr lang="en-US" b="1" i="0" dirty="0">
                <a:effectLst/>
                <a:latin typeface="fkGroteskNeue"/>
              </a:rPr>
              <a:t>Dynamic Graph Updates:</a:t>
            </a:r>
            <a:br>
              <a:rPr lang="en-US" b="0" i="0" dirty="0">
                <a:effectLst/>
                <a:latin typeface="fkGroteskNeue"/>
              </a:rPr>
            </a:br>
            <a:r>
              <a:rPr lang="en-US" b="0" i="0" dirty="0">
                <a:effectLst/>
                <a:latin typeface="fkGroteskNeue"/>
              </a:rPr>
              <a:t>The method addresses cases where edge weights change dynamically due to continuous online queries. Unlike the classical Kruskal’s algorithm which recalculates MST from scratch, this method efficiently updates the MST by handling changing edge weights without complete re-computation.​</a:t>
            </a:r>
          </a:p>
          <a:p>
            <a:pPr algn="l">
              <a:buFont typeface="Wingdings" panose="05000000000000000000" pitchFamily="2" charset="2"/>
              <a:buChar char="v"/>
            </a:pPr>
            <a:r>
              <a:rPr lang="en-US" b="1" i="0" dirty="0">
                <a:effectLst/>
                <a:latin typeface="fkGroteskNeue"/>
              </a:rPr>
              <a:t>Preprocessing and Batching:</a:t>
            </a:r>
            <a:br>
              <a:rPr lang="en-US" b="0" i="0" dirty="0">
                <a:effectLst/>
                <a:latin typeface="fkGroteskNeue"/>
              </a:rPr>
            </a:br>
            <a:r>
              <a:rPr lang="en-US" b="0" i="0" dirty="0">
                <a:effectLst/>
                <a:latin typeface="fkGroteskNeue"/>
              </a:rPr>
              <a:t>Initially, the edges are preprocessed, and updates from queries are batched into groups. This prevents frequent small recalculations and allows the system to optimize operations collectively for faster processing.​</a:t>
            </a:r>
          </a:p>
          <a:p>
            <a:pPr algn="l">
              <a:buFont typeface="Wingdings" panose="05000000000000000000" pitchFamily="2" charset="2"/>
              <a:buChar char="v"/>
            </a:pPr>
            <a:r>
              <a:rPr lang="en-US" b="1" i="0" dirty="0">
                <a:effectLst/>
                <a:latin typeface="fkGroteskNeue"/>
              </a:rPr>
              <a:t>Parallel Execution:</a:t>
            </a:r>
            <a:br>
              <a:rPr lang="en-US" b="0" i="0" dirty="0">
                <a:effectLst/>
                <a:latin typeface="fkGroteskNeue"/>
              </a:rPr>
            </a:br>
            <a:r>
              <a:rPr lang="en-US" b="0" i="0" dirty="0">
                <a:effectLst/>
                <a:latin typeface="fkGroteskNeue"/>
              </a:rPr>
              <a:t>The core improvement is executing key steps like sorting and filtering edges in parallel across multiple processors. Parallel sorting of edges and parallel batch processing speeds up query handling substantially and reduces the bottlenecks seen with sequential Kruskal processing.​</a:t>
            </a:r>
          </a:p>
          <a:p>
            <a:pPr algn="l">
              <a:buFont typeface="Wingdings" panose="05000000000000000000" pitchFamily="2" charset="2"/>
              <a:buChar char="v"/>
            </a:pPr>
            <a:r>
              <a:rPr lang="en-US" b="1" i="0" dirty="0">
                <a:effectLst/>
                <a:latin typeface="fkGroteskNeue"/>
              </a:rPr>
              <a:t>Binary Search on Edge Weights:</a:t>
            </a:r>
            <a:br>
              <a:rPr lang="en-US" b="0" i="0" dirty="0">
                <a:effectLst/>
                <a:latin typeface="fkGroteskNeue"/>
              </a:rPr>
            </a:br>
            <a:r>
              <a:rPr lang="en-US" b="0" i="0" dirty="0">
                <a:effectLst/>
                <a:latin typeface="fkGroteskNeue"/>
              </a:rPr>
              <a:t>To quickly identify updated MST edges, the algorithm utilizes binary search on the edge weights, determining whether an edge should be included or excluded from the MST after updates.​</a:t>
            </a:r>
          </a:p>
          <a:p>
            <a:pPr algn="l">
              <a:buFont typeface="Wingdings" panose="05000000000000000000" pitchFamily="2" charset="2"/>
              <a:buChar char="v"/>
            </a:pPr>
            <a:r>
              <a:rPr lang="en-US" b="1" i="0" dirty="0">
                <a:effectLst/>
                <a:latin typeface="fkGroteskNeue"/>
              </a:rPr>
              <a:t>Efficient Union-Find:</a:t>
            </a:r>
            <a:br>
              <a:rPr lang="en-US" b="0" i="0" dirty="0">
                <a:effectLst/>
                <a:latin typeface="fkGroteskNeue"/>
              </a:rPr>
            </a:br>
            <a:r>
              <a:rPr lang="en-US" b="0" i="0" dirty="0">
                <a:effectLst/>
                <a:latin typeface="fkGroteskNeue"/>
              </a:rPr>
              <a:t>Optimized union-find data structures help manage the connected components and avoid cycles during MST updates. While union-find operations are traditionally sequential, techniques in this method mitigate delays by minimizing synchronization overhead during parallel execution.</a:t>
            </a:r>
          </a:p>
          <a:p>
            <a:pPr algn="l">
              <a:buFont typeface="Wingdings" panose="05000000000000000000" pitchFamily="2" charset="2"/>
              <a:buChar char="v"/>
            </a:pPr>
            <a:r>
              <a:rPr lang="en-US" b="1" i="0" dirty="0">
                <a:effectLst/>
                <a:latin typeface="fkGroteskNeue"/>
              </a:rPr>
              <a:t>Output:</a:t>
            </a:r>
            <a:br>
              <a:rPr lang="en-US" b="0" i="0" dirty="0">
                <a:effectLst/>
                <a:latin typeface="fkGroteskNeue"/>
              </a:rPr>
            </a:br>
            <a:r>
              <a:rPr lang="en-US" b="0" i="0" dirty="0">
                <a:effectLst/>
                <a:latin typeface="fkGroteskNeue"/>
              </a:rPr>
              <a:t>The method produces the MST cost (sum of MST edges) for each query efficiently, which reflects the updated minimum spanning tree after dynamic changes</a:t>
            </a:r>
          </a:p>
          <a:p>
            <a:pPr marL="0" indent="0">
              <a:buNone/>
            </a:pPr>
            <a:endParaRPr dirty="0"/>
          </a:p>
        </p:txBody>
      </p:sp>
    </p:spTree>
    <p:extLst>
      <p:ext uri="{BB962C8B-B14F-4D97-AF65-F5344CB8AC3E}">
        <p14:creationId xmlns:p14="http://schemas.microsoft.com/office/powerpoint/2010/main" val="3639490727"/>
      </p:ext>
    </p:extLst>
  </p:cSld>
  <p:clrMapOvr>
    <a:masterClrMapping/>
  </p:clrMapOvr>
  <mc:AlternateContent xmlns:mc="http://schemas.openxmlformats.org/markup-compatibility/2006" xmlns:p14="http://schemas.microsoft.com/office/powerpoint/2010/main">
    <mc:Choice Requires="p14">
      <p:transition spd="slow" p14:dur="2000" advTm="89949"/>
    </mc:Choice>
    <mc:Fallback xmlns="">
      <p:transition spd="slow" advTm="8994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483010"/>
            <a:ext cx="6347713" cy="1320800"/>
          </a:xfrm>
        </p:spPr>
        <p:txBody>
          <a:bodyPr/>
          <a:lstStyle/>
          <a:p>
            <a:pPr algn="ctr"/>
            <a:r>
              <a:rPr lang="en-US" dirty="0"/>
              <a:t>EXPLANATION</a:t>
            </a:r>
            <a:endParaRPr dirty="0"/>
          </a:p>
        </p:txBody>
      </p:sp>
      <p:pic>
        <p:nvPicPr>
          <p:cNvPr id="5" name="Content Placeholder 4" descr="A graph of lines and points">
            <a:extLst>
              <a:ext uri="{FF2B5EF4-FFF2-40B4-BE49-F238E27FC236}">
                <a16:creationId xmlns:a16="http://schemas.microsoft.com/office/drawing/2014/main" id="{20BC0EEC-D97B-9757-7EE1-FD9A7A700A55}"/>
              </a:ext>
            </a:extLst>
          </p:cNvPr>
          <p:cNvPicPr>
            <a:picLocks noGrp="1" noChangeAspect="1"/>
          </p:cNvPicPr>
          <p:nvPr>
            <p:ph idx="1"/>
          </p:nvPr>
        </p:nvPicPr>
        <p:blipFill>
          <a:blip r:embed="rId2"/>
          <a:stretch>
            <a:fillRect/>
          </a:stretch>
        </p:blipFill>
        <p:spPr>
          <a:xfrm>
            <a:off x="1006678" y="1076298"/>
            <a:ext cx="5825545" cy="5391614"/>
          </a:xfrm>
        </p:spPr>
      </p:pic>
    </p:spTree>
    <p:extLst>
      <p:ext uri="{BB962C8B-B14F-4D97-AF65-F5344CB8AC3E}">
        <p14:creationId xmlns:p14="http://schemas.microsoft.com/office/powerpoint/2010/main" val="1153339355"/>
      </p:ext>
    </p:extLst>
  </p:cSld>
  <p:clrMapOvr>
    <a:masterClrMapping/>
  </p:clrMapOvr>
  <mc:AlternateContent xmlns:mc="http://schemas.openxmlformats.org/markup-compatibility/2006" xmlns:p14="http://schemas.microsoft.com/office/powerpoint/2010/main">
    <mc:Choice Requires="p14">
      <p:transition spd="slow" p14:dur="2000" advTm="7440"/>
    </mc:Choice>
    <mc:Fallback xmlns="">
      <p:transition spd="slow" advTm="744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483010"/>
            <a:ext cx="6347713" cy="1320800"/>
          </a:xfrm>
        </p:spPr>
        <p:txBody>
          <a:bodyPr/>
          <a:lstStyle/>
          <a:p>
            <a:pPr algn="ctr"/>
            <a:r>
              <a:rPr lang="en-US" dirty="0"/>
              <a:t>EXPLANATION</a:t>
            </a:r>
            <a:endParaRPr dirty="0"/>
          </a:p>
        </p:txBody>
      </p:sp>
      <p:pic>
        <p:nvPicPr>
          <p:cNvPr id="7" name="Content Placeholder 6" descr="A table of numbers with black text">
            <a:extLst>
              <a:ext uri="{FF2B5EF4-FFF2-40B4-BE49-F238E27FC236}">
                <a16:creationId xmlns:a16="http://schemas.microsoft.com/office/drawing/2014/main" id="{3D9CFC58-1065-AC7C-285A-4C42717501CC}"/>
              </a:ext>
            </a:extLst>
          </p:cNvPr>
          <p:cNvPicPr>
            <a:picLocks noGrp="1" noChangeAspect="1"/>
          </p:cNvPicPr>
          <p:nvPr>
            <p:ph idx="1"/>
          </p:nvPr>
        </p:nvPicPr>
        <p:blipFill>
          <a:blip r:embed="rId2"/>
          <a:stretch>
            <a:fillRect/>
          </a:stretch>
        </p:blipFill>
        <p:spPr>
          <a:xfrm>
            <a:off x="1472739" y="1143410"/>
            <a:ext cx="5475504" cy="5475504"/>
          </a:xfrm>
        </p:spPr>
      </p:pic>
    </p:spTree>
    <p:extLst>
      <p:ext uri="{BB962C8B-B14F-4D97-AF65-F5344CB8AC3E}">
        <p14:creationId xmlns:p14="http://schemas.microsoft.com/office/powerpoint/2010/main" val="673106390"/>
      </p:ext>
    </p:extLst>
  </p:cSld>
  <p:clrMapOvr>
    <a:masterClrMapping/>
  </p:clrMapOvr>
  <mc:AlternateContent xmlns:mc="http://schemas.openxmlformats.org/markup-compatibility/2006" xmlns:p14="http://schemas.microsoft.com/office/powerpoint/2010/main">
    <mc:Choice Requires="p14">
      <p:transition spd="slow" p14:dur="2000" advTm="45228"/>
    </mc:Choice>
    <mc:Fallback xmlns="">
      <p:transition spd="slow" advTm="4522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Algorithms Used</a:t>
            </a:r>
            <a:endParaRPr dirty="0"/>
          </a:p>
        </p:txBody>
      </p:sp>
      <p:sp>
        <p:nvSpPr>
          <p:cNvPr id="3" name="Content Placeholder 2"/>
          <p:cNvSpPr>
            <a:spLocks noGrp="1"/>
          </p:cNvSpPr>
          <p:nvPr>
            <p:ph idx="1"/>
          </p:nvPr>
        </p:nvSpPr>
        <p:spPr>
          <a:xfrm>
            <a:off x="609598" y="1488613"/>
            <a:ext cx="6347714" cy="3880773"/>
          </a:xfrm>
        </p:spPr>
        <p:txBody>
          <a:bodyPr/>
          <a:lstStyle/>
          <a:p>
            <a:pPr>
              <a:buFont typeface="Wingdings" panose="05000000000000000000" pitchFamily="2" charset="2"/>
              <a:buChar char="q"/>
            </a:pPr>
            <a:endParaRPr dirty="0"/>
          </a:p>
          <a:p>
            <a:pPr>
              <a:buFont typeface="Wingdings" panose="05000000000000000000" pitchFamily="2" charset="2"/>
              <a:buChar char="q"/>
              <a:defRPr sz="2000"/>
            </a:pPr>
            <a:r>
              <a:rPr lang="en-US" b="0" i="0" dirty="0">
                <a:effectLst/>
                <a:latin typeface="fkGroteskNeue"/>
              </a:rPr>
              <a:t>Kruskal's algorithm</a:t>
            </a:r>
          </a:p>
          <a:p>
            <a:pPr>
              <a:buFont typeface="Wingdings" panose="05000000000000000000" pitchFamily="2" charset="2"/>
              <a:buChar char="q"/>
              <a:defRPr sz="2000"/>
            </a:pPr>
            <a:r>
              <a:rPr lang="en-US" b="0" i="0" dirty="0">
                <a:effectLst/>
                <a:latin typeface="fkGroteskNeue"/>
              </a:rPr>
              <a:t>Parallel sorting algorithms</a:t>
            </a:r>
          </a:p>
          <a:p>
            <a:pPr>
              <a:buFont typeface="Wingdings" panose="05000000000000000000" pitchFamily="2" charset="2"/>
              <a:buChar char="q"/>
              <a:defRPr sz="2000"/>
            </a:pPr>
            <a:r>
              <a:rPr lang="en-US" b="0" i="0" dirty="0">
                <a:effectLst/>
                <a:latin typeface="fkGroteskNeue"/>
              </a:rPr>
              <a:t>Binary search</a:t>
            </a:r>
          </a:p>
          <a:p>
            <a:pPr>
              <a:buFont typeface="Wingdings" panose="05000000000000000000" pitchFamily="2" charset="2"/>
              <a:buChar char="q"/>
              <a:defRPr sz="2000"/>
            </a:pPr>
            <a:r>
              <a:rPr lang="en-US" b="0" i="0" dirty="0">
                <a:effectLst/>
                <a:latin typeface="fkGroteskNeue"/>
              </a:rPr>
              <a:t>Filter-Kruskal algorithm</a:t>
            </a:r>
          </a:p>
          <a:p>
            <a:pPr>
              <a:buFont typeface="Wingdings" panose="05000000000000000000" pitchFamily="2" charset="2"/>
              <a:buChar char="q"/>
              <a:defRPr sz="2000"/>
            </a:pPr>
            <a:r>
              <a:rPr lang="en-US" b="0" i="0" dirty="0">
                <a:effectLst/>
                <a:latin typeface="fkGroteskNeue"/>
              </a:rPr>
              <a:t>Union-Find </a:t>
            </a:r>
            <a:r>
              <a:rPr lang="en-US" b="0" i="0">
                <a:effectLst/>
                <a:latin typeface="fkGroteskNeue"/>
              </a:rPr>
              <a:t>data structure</a:t>
            </a:r>
            <a:endParaRPr lang="en-US" b="0" i="0" dirty="0">
              <a:effectLst/>
              <a:latin typeface="fkGroteskNeue"/>
            </a:endParaRPr>
          </a:p>
          <a:p>
            <a:pPr>
              <a:buFont typeface="Wingdings" panose="05000000000000000000" pitchFamily="2" charset="2"/>
              <a:buChar char="q"/>
              <a:defRPr sz="2000"/>
            </a:pPr>
            <a:r>
              <a:rPr lang="en-US" b="0" i="0">
                <a:effectLst/>
                <a:latin typeface="fkGroteskNeue"/>
              </a:rPr>
              <a:t>Batch </a:t>
            </a:r>
            <a:r>
              <a:rPr lang="en-US" b="0" i="0" dirty="0">
                <a:effectLst/>
                <a:latin typeface="fkGroteskNeue"/>
              </a:rPr>
              <a:t>processing</a:t>
            </a:r>
            <a:endParaRPr dirty="0"/>
          </a:p>
        </p:txBody>
      </p:sp>
    </p:spTree>
  </p:cSld>
  <p:clrMapOvr>
    <a:masterClrMapping/>
  </p:clrMapOvr>
  <mc:AlternateContent xmlns:mc="http://schemas.openxmlformats.org/markup-compatibility/2006" xmlns:p14="http://schemas.microsoft.com/office/powerpoint/2010/main">
    <mc:Choice Requires="p14">
      <p:transition spd="slow" p14:dur="2000" advTm="39601"/>
    </mc:Choice>
    <mc:Fallback xmlns="">
      <p:transition spd="slow" advTm="3960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74041"/>
            <a:ext cx="6347713" cy="1320800"/>
          </a:xfrm>
        </p:spPr>
        <p:txBody>
          <a:bodyPr/>
          <a:lstStyle/>
          <a:p>
            <a:r>
              <a:rPr lang="en-US" dirty="0"/>
              <a:t>				ALGORITHM</a:t>
            </a:r>
          </a:p>
        </p:txBody>
      </p:sp>
      <p:sp>
        <p:nvSpPr>
          <p:cNvPr id="4" name="Rectangle 1">
            <a:extLst>
              <a:ext uri="{FF2B5EF4-FFF2-40B4-BE49-F238E27FC236}">
                <a16:creationId xmlns:a16="http://schemas.microsoft.com/office/drawing/2014/main" id="{F65DD872-E0E8-BA56-7241-5700074EBCCD}"/>
              </a:ext>
            </a:extLst>
          </p:cNvPr>
          <p:cNvSpPr>
            <a:spLocks noGrp="1" noChangeArrowheads="1"/>
          </p:cNvSpPr>
          <p:nvPr>
            <p:ph idx="1"/>
          </p:nvPr>
        </p:nvSpPr>
        <p:spPr bwMode="auto">
          <a:xfrm>
            <a:off x="1241570" y="920926"/>
            <a:ext cx="5908690" cy="6140142"/>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r>
              <a:rPr lang="en-US" b="1" dirty="0"/>
              <a:t>Preprocessing</a:t>
            </a:r>
            <a:endParaRPr lang="en-US" dirty="0"/>
          </a:p>
          <a:p>
            <a:pPr marL="742950" lvl="1" indent="-285750">
              <a:buFont typeface="+mj-lt"/>
              <a:buAutoNum type="arabicPeriod"/>
            </a:pPr>
            <a:r>
              <a:rPr lang="en-US" dirty="0"/>
              <a:t>Load all edges (</a:t>
            </a:r>
            <a:r>
              <a:rPr lang="en-US" dirty="0" err="1"/>
              <a:t>u,v,w</a:t>
            </a:r>
            <a:r>
              <a:rPr lang="en-US" dirty="0"/>
              <a:t>)</a:t>
            </a:r>
          </a:p>
          <a:p>
            <a:pPr marL="742950" lvl="1" indent="-285750">
              <a:buFont typeface="+mj-lt"/>
              <a:buAutoNum type="arabicPeriod"/>
            </a:pPr>
            <a:r>
              <a:rPr lang="en-US" dirty="0"/>
              <a:t>Convert to NumPy matrix for fast vector operations</a:t>
            </a:r>
          </a:p>
          <a:p>
            <a:pPr>
              <a:buFont typeface="+mj-lt"/>
              <a:buAutoNum type="arabicPeriod"/>
            </a:pPr>
            <a:r>
              <a:rPr lang="en-US" b="1" dirty="0"/>
              <a:t>Dynamic Weight Update (per query)</a:t>
            </a:r>
            <a:endParaRPr lang="en-US" dirty="0"/>
          </a:p>
          <a:p>
            <a:pPr marL="742950" lvl="1" indent="-285750">
              <a:buFont typeface="+mj-lt"/>
              <a:buAutoNum type="arabicPeriod"/>
            </a:pPr>
            <a:r>
              <a:rPr lang="en-US" dirty="0"/>
              <a:t>Compute ∣w−x∣ for all edges</a:t>
            </a:r>
          </a:p>
          <a:p>
            <a:pPr>
              <a:buFont typeface="+mj-lt"/>
              <a:buAutoNum type="arabicPeriod"/>
            </a:pPr>
            <a:r>
              <a:rPr lang="en-US" b="1" dirty="0"/>
              <a:t>Edge Filtering (Major Optimization)</a:t>
            </a:r>
            <a:endParaRPr lang="en-US" dirty="0"/>
          </a:p>
          <a:p>
            <a:pPr marL="742950" lvl="1" indent="-285750">
              <a:buFont typeface="+mj-lt"/>
              <a:buAutoNum type="arabicPeriod"/>
            </a:pPr>
            <a:r>
              <a:rPr lang="en-US" dirty="0"/>
              <a:t>Select only the top </a:t>
            </a:r>
            <a:r>
              <a:rPr lang="en-US" b="1" dirty="0"/>
              <a:t>5–15% closest edges</a:t>
            </a:r>
            <a:endParaRPr lang="en-US" dirty="0"/>
          </a:p>
          <a:p>
            <a:pPr marL="742950" lvl="1" indent="-285750">
              <a:buFont typeface="+mj-lt"/>
              <a:buAutoNum type="arabicPeriod"/>
            </a:pPr>
            <a:r>
              <a:rPr lang="en-US" dirty="0"/>
              <a:t>Ensures MST correctness while reducing computation</a:t>
            </a:r>
          </a:p>
          <a:p>
            <a:pPr marL="742950" lvl="1" indent="-285750">
              <a:buFont typeface="+mj-lt"/>
              <a:buAutoNum type="arabicPeriod"/>
            </a:pPr>
            <a:r>
              <a:rPr lang="en-US" dirty="0"/>
              <a:t>If too few edges → fallback to full edge list</a:t>
            </a:r>
          </a:p>
          <a:p>
            <a:pPr>
              <a:buFont typeface="+mj-lt"/>
              <a:buAutoNum type="arabicPeriod"/>
            </a:pPr>
            <a:r>
              <a:rPr lang="en-US" b="1" dirty="0"/>
              <a:t>Parallel Sorting</a:t>
            </a:r>
            <a:endParaRPr lang="en-US" dirty="0"/>
          </a:p>
          <a:p>
            <a:pPr marL="742950" lvl="1" indent="-285750">
              <a:buFont typeface="+mj-lt"/>
              <a:buAutoNum type="arabicPeriod"/>
            </a:pPr>
            <a:r>
              <a:rPr lang="en-US" dirty="0"/>
              <a:t>Sort only filtered edges by ∣w−x∣</a:t>
            </a:r>
          </a:p>
          <a:p>
            <a:pPr marL="742950" lvl="1" indent="-285750">
              <a:buFont typeface="+mj-lt"/>
              <a:buAutoNum type="arabicPeriod"/>
            </a:pPr>
            <a:r>
              <a:rPr lang="en-US" dirty="0"/>
              <a:t>Each query executed </a:t>
            </a:r>
            <a:r>
              <a:rPr lang="en-US" b="1" dirty="0"/>
              <a:t>in parallel across CPU cores</a:t>
            </a:r>
            <a:endParaRPr lang="en-US" dirty="0"/>
          </a:p>
          <a:p>
            <a:pPr>
              <a:buFont typeface="+mj-lt"/>
              <a:buAutoNum type="arabicPeriod"/>
            </a:pPr>
            <a:r>
              <a:rPr lang="en-US" b="1" dirty="0"/>
              <a:t>Kruskal MST Construction (DSU)</a:t>
            </a:r>
            <a:endParaRPr lang="en-US" dirty="0"/>
          </a:p>
          <a:p>
            <a:pPr marL="742950" lvl="1" indent="-285750">
              <a:buFont typeface="+mj-lt"/>
              <a:buAutoNum type="arabicPeriod"/>
            </a:pPr>
            <a:r>
              <a:rPr lang="en-US" dirty="0"/>
              <a:t>Use Disjoint Set Union</a:t>
            </a:r>
          </a:p>
          <a:p>
            <a:pPr marL="742950" lvl="1" indent="-285750">
              <a:buFont typeface="+mj-lt"/>
              <a:buAutoNum type="arabicPeriod"/>
            </a:pPr>
            <a:r>
              <a:rPr lang="en-US" dirty="0"/>
              <a:t>Add edges until MST has </a:t>
            </a:r>
            <a:r>
              <a:rPr lang="en-US" b="1" dirty="0"/>
              <a:t>n − 1</a:t>
            </a:r>
            <a:r>
              <a:rPr lang="en-US" dirty="0"/>
              <a:t> edges</a:t>
            </a:r>
          </a:p>
          <a:p>
            <a:pPr marL="0" indent="0">
              <a:buNone/>
            </a:pPr>
            <a:endParaRPr lang="en-US" altLang="en-US" dirty="0"/>
          </a:p>
        </p:txBody>
      </p:sp>
    </p:spTree>
    <p:extLst>
      <p:ext uri="{BB962C8B-B14F-4D97-AF65-F5344CB8AC3E}">
        <p14:creationId xmlns:p14="http://schemas.microsoft.com/office/powerpoint/2010/main" val="2623603264"/>
      </p:ext>
    </p:extLst>
  </p:cSld>
  <p:clrMapOvr>
    <a:masterClrMapping/>
  </p:clrMapOvr>
  <mc:AlternateContent xmlns:mc="http://schemas.openxmlformats.org/markup-compatibility/2006" xmlns:p14="http://schemas.microsoft.com/office/powerpoint/2010/main">
    <mc:Choice Requires="p14">
      <p:transition spd="slow" p14:dur="2000" advTm="39632"/>
    </mc:Choice>
    <mc:Fallback xmlns="">
      <p:transition spd="slow" advTm="3963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5B92E-BBF0-B3D5-D391-41D590E1074B}"/>
              </a:ext>
            </a:extLst>
          </p:cNvPr>
          <p:cNvSpPr>
            <a:spLocks noGrp="1"/>
          </p:cNvSpPr>
          <p:nvPr>
            <p:ph type="title"/>
          </p:nvPr>
        </p:nvSpPr>
        <p:spPr/>
        <p:txBody>
          <a:bodyPr/>
          <a:lstStyle/>
          <a:p>
            <a:r>
              <a:rPr lang="en-US" dirty="0"/>
              <a:t>OUTPUT</a:t>
            </a:r>
          </a:p>
        </p:txBody>
      </p:sp>
      <p:pic>
        <p:nvPicPr>
          <p:cNvPr id="13" name="Content Placeholder 12" descr="A screenshot of a computer&#10;&#10;AI-generated content may be incorrect.">
            <a:extLst>
              <a:ext uri="{FF2B5EF4-FFF2-40B4-BE49-F238E27FC236}">
                <a16:creationId xmlns:a16="http://schemas.microsoft.com/office/drawing/2014/main" id="{B646F130-8185-7348-9267-A10FE8588572}"/>
              </a:ext>
            </a:extLst>
          </p:cNvPr>
          <p:cNvPicPr>
            <a:picLocks noGrp="1" noChangeAspect="1"/>
          </p:cNvPicPr>
          <p:nvPr>
            <p:ph idx="1"/>
          </p:nvPr>
        </p:nvPicPr>
        <p:blipFill>
          <a:blip r:embed="rId2"/>
          <a:stretch>
            <a:fillRect/>
          </a:stretch>
        </p:blipFill>
        <p:spPr>
          <a:xfrm>
            <a:off x="548006" y="1728132"/>
            <a:ext cx="3621321" cy="3641586"/>
          </a:xfrm>
        </p:spPr>
      </p:pic>
      <p:pic>
        <p:nvPicPr>
          <p:cNvPr id="15" name="Picture 14" descr="A screenshot of a computer">
            <a:extLst>
              <a:ext uri="{FF2B5EF4-FFF2-40B4-BE49-F238E27FC236}">
                <a16:creationId xmlns:a16="http://schemas.microsoft.com/office/drawing/2014/main" id="{37B3F3D6-8535-1DEE-D103-8AA2057BD5C2}"/>
              </a:ext>
            </a:extLst>
          </p:cNvPr>
          <p:cNvPicPr>
            <a:picLocks noChangeAspect="1"/>
          </p:cNvPicPr>
          <p:nvPr/>
        </p:nvPicPr>
        <p:blipFill>
          <a:blip r:embed="rId3"/>
          <a:stretch>
            <a:fillRect/>
          </a:stretch>
        </p:blipFill>
        <p:spPr>
          <a:xfrm>
            <a:off x="4476083" y="1728132"/>
            <a:ext cx="4058318" cy="3641587"/>
          </a:xfrm>
          <a:prstGeom prst="rect">
            <a:avLst/>
          </a:prstGeom>
        </p:spPr>
      </p:pic>
    </p:spTree>
    <p:extLst>
      <p:ext uri="{BB962C8B-B14F-4D97-AF65-F5344CB8AC3E}">
        <p14:creationId xmlns:p14="http://schemas.microsoft.com/office/powerpoint/2010/main" val="697230678"/>
      </p:ext>
    </p:extLst>
  </p:cSld>
  <p:clrMapOvr>
    <a:masterClrMapping/>
  </p:clrMapOvr>
  <mc:AlternateContent xmlns:mc="http://schemas.openxmlformats.org/markup-compatibility/2006" xmlns:p14="http://schemas.microsoft.com/office/powerpoint/2010/main">
    <mc:Choice Requires="p14">
      <p:transition spd="slow" p14:dur="2000" advTm="62843"/>
    </mc:Choice>
    <mc:Fallback xmlns="">
      <p:transition spd="slow" advTm="6284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844DC-F3E0-A50F-C1F9-6A80950BD7A7}"/>
              </a:ext>
            </a:extLst>
          </p:cNvPr>
          <p:cNvSpPr>
            <a:spLocks noGrp="1"/>
          </p:cNvSpPr>
          <p:nvPr>
            <p:ph type="title"/>
          </p:nvPr>
        </p:nvSpPr>
        <p:spPr/>
        <p:txBody>
          <a:bodyPr/>
          <a:lstStyle/>
          <a:p>
            <a:r>
              <a:rPr lang="en-US" dirty="0"/>
              <a:t>OUTPUT</a:t>
            </a:r>
          </a:p>
        </p:txBody>
      </p:sp>
      <p:pic>
        <p:nvPicPr>
          <p:cNvPr id="5" name="Content Placeholder 4" descr="A screenshot of a computer program&#10;&#10;AI-generated content may be incorrect.">
            <a:extLst>
              <a:ext uri="{FF2B5EF4-FFF2-40B4-BE49-F238E27FC236}">
                <a16:creationId xmlns:a16="http://schemas.microsoft.com/office/drawing/2014/main" id="{426D317E-D7DB-ECC9-CE3B-C2CBCD733016}"/>
              </a:ext>
            </a:extLst>
          </p:cNvPr>
          <p:cNvPicPr>
            <a:picLocks noGrp="1" noChangeAspect="1"/>
          </p:cNvPicPr>
          <p:nvPr>
            <p:ph idx="1"/>
          </p:nvPr>
        </p:nvPicPr>
        <p:blipFill>
          <a:blip r:embed="rId2"/>
          <a:stretch>
            <a:fillRect/>
          </a:stretch>
        </p:blipFill>
        <p:spPr>
          <a:xfrm>
            <a:off x="1854793" y="1715972"/>
            <a:ext cx="4311032" cy="3881437"/>
          </a:xfrm>
        </p:spPr>
      </p:pic>
    </p:spTree>
    <p:extLst>
      <p:ext uri="{BB962C8B-B14F-4D97-AF65-F5344CB8AC3E}">
        <p14:creationId xmlns:p14="http://schemas.microsoft.com/office/powerpoint/2010/main" val="1665881493"/>
      </p:ext>
    </p:extLst>
  </p:cSld>
  <p:clrMapOvr>
    <a:masterClrMapping/>
  </p:clrMapOvr>
  <mc:AlternateContent xmlns:mc="http://schemas.openxmlformats.org/markup-compatibility/2006" xmlns:p14="http://schemas.microsoft.com/office/powerpoint/2010/main">
    <mc:Choice Requires="p14">
      <p:transition spd="slow" p14:dur="2000" advTm="35861"/>
    </mc:Choice>
    <mc:Fallback xmlns="">
      <p:transition spd="slow" advTm="3586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TIME COMPLEXITY</a:t>
            </a:r>
            <a:endParaRPr dirty="0"/>
          </a:p>
        </p:txBody>
      </p:sp>
      <p:pic>
        <p:nvPicPr>
          <p:cNvPr id="11" name="Content Placeholder 10" descr="A screenshot of a computer">
            <a:extLst>
              <a:ext uri="{FF2B5EF4-FFF2-40B4-BE49-F238E27FC236}">
                <a16:creationId xmlns:a16="http://schemas.microsoft.com/office/drawing/2014/main" id="{319C75C4-92CB-7946-ADC2-2D93F130036C}"/>
              </a:ext>
            </a:extLst>
          </p:cNvPr>
          <p:cNvPicPr>
            <a:picLocks noGrp="1" noChangeAspect="1"/>
          </p:cNvPicPr>
          <p:nvPr>
            <p:ph idx="1"/>
          </p:nvPr>
        </p:nvPicPr>
        <p:blipFill>
          <a:blip r:embed="rId3"/>
          <a:stretch>
            <a:fillRect/>
          </a:stretch>
        </p:blipFill>
        <p:spPr>
          <a:xfrm>
            <a:off x="1449691" y="1342772"/>
            <a:ext cx="5605450" cy="4905628"/>
          </a:xfrm>
        </p:spPr>
      </p:pic>
    </p:spTree>
    <p:extLst>
      <p:ext uri="{BB962C8B-B14F-4D97-AF65-F5344CB8AC3E}">
        <p14:creationId xmlns:p14="http://schemas.microsoft.com/office/powerpoint/2010/main" val="234686461"/>
      </p:ext>
    </p:extLst>
  </p:cSld>
  <p:clrMapOvr>
    <a:masterClrMapping/>
  </p:clrMapOvr>
  <mc:AlternateContent xmlns:mc="http://schemas.openxmlformats.org/markup-compatibility/2006" xmlns:p14="http://schemas.microsoft.com/office/powerpoint/2010/main">
    <mc:Choice Requires="p14">
      <p:transition spd="slow" p14:dur="2000" advTm="37812"/>
    </mc:Choice>
    <mc:Fallback xmlns="">
      <p:transition spd="slow" advTm="3781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Real-World Applications</a:t>
            </a:r>
          </a:p>
        </p:txBody>
      </p:sp>
      <p:sp>
        <p:nvSpPr>
          <p:cNvPr id="3" name="Content Placeholder 2"/>
          <p:cNvSpPr>
            <a:spLocks noGrp="1"/>
          </p:cNvSpPr>
          <p:nvPr>
            <p:ph idx="1"/>
          </p:nvPr>
        </p:nvSpPr>
        <p:spPr>
          <a:xfrm>
            <a:off x="676711" y="1488613"/>
            <a:ext cx="6347714" cy="3880773"/>
          </a:xfrm>
        </p:spPr>
        <p:txBody>
          <a:bodyPr/>
          <a:lstStyle/>
          <a:p>
            <a:endParaRPr dirty="0"/>
          </a:p>
          <a:p>
            <a:pPr>
              <a:defRPr sz="2000"/>
            </a:pPr>
            <a:r>
              <a:rPr dirty="0"/>
              <a:t> Telecommunications: Dynamic recalculation in fiber optic networks.</a:t>
            </a:r>
          </a:p>
          <a:p>
            <a:pPr>
              <a:defRPr sz="2000"/>
            </a:pPr>
            <a:r>
              <a:rPr dirty="0"/>
              <a:t> Logistics: Route optimization adapting to traffic and cost fluctuations.</a:t>
            </a:r>
          </a:p>
          <a:p>
            <a:pPr>
              <a:defRPr sz="2000"/>
            </a:pPr>
            <a:r>
              <a:rPr dirty="0"/>
              <a:t> Image Segmentation: Real-time pixel grouping in computer vision.</a:t>
            </a:r>
            <a:endParaRPr lang="en-US" dirty="0"/>
          </a:p>
          <a:p>
            <a:pPr>
              <a:defRPr sz="2000"/>
            </a:pPr>
            <a:r>
              <a:rPr lang="en-US" b="0" i="0" dirty="0">
                <a:effectLst/>
                <a:latin typeface="+mj-lt"/>
              </a:rPr>
              <a:t>Traffic Management : Helps in optimizing traffic flow by dynamically updating road network weights and recalculating best routes.</a:t>
            </a:r>
          </a:p>
          <a:p>
            <a:pPr>
              <a:defRPr sz="2000"/>
            </a:pPr>
            <a:endParaRPr dirty="0"/>
          </a:p>
        </p:txBody>
      </p:sp>
    </p:spTree>
  </p:cSld>
  <p:clrMapOvr>
    <a:masterClrMapping/>
  </p:clrMapOvr>
  <mc:AlternateContent xmlns:mc="http://schemas.openxmlformats.org/markup-compatibility/2006" xmlns:p14="http://schemas.microsoft.com/office/powerpoint/2010/main">
    <mc:Choice Requires="p14">
      <p:transition spd="slow" p14:dur="2000" advTm="38462"/>
    </mc:Choice>
    <mc:Fallback xmlns="">
      <p:transition spd="slow" advTm="3846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B5B4B-E353-763E-67E8-C1902FF07661}"/>
              </a:ext>
            </a:extLst>
          </p:cNvPr>
          <p:cNvSpPr>
            <a:spLocks noGrp="1"/>
          </p:cNvSpPr>
          <p:nvPr>
            <p:ph type="title"/>
          </p:nvPr>
        </p:nvSpPr>
        <p:spPr/>
        <p:txBody>
          <a:bodyPr/>
          <a:lstStyle/>
          <a:p>
            <a:r>
              <a:rPr lang="en-US" dirty="0"/>
              <a:t>Conclusion</a:t>
            </a:r>
          </a:p>
        </p:txBody>
      </p:sp>
      <p:sp>
        <p:nvSpPr>
          <p:cNvPr id="4" name="Rectangle 1">
            <a:extLst>
              <a:ext uri="{FF2B5EF4-FFF2-40B4-BE49-F238E27FC236}">
                <a16:creationId xmlns:a16="http://schemas.microsoft.com/office/drawing/2014/main" id="{2B9493A5-9643-56FF-D07A-8F3E4D8C0155}"/>
              </a:ext>
            </a:extLst>
          </p:cNvPr>
          <p:cNvSpPr>
            <a:spLocks noGrp="1" noChangeArrowheads="1"/>
          </p:cNvSpPr>
          <p:nvPr>
            <p:ph idx="1"/>
          </p:nvPr>
        </p:nvSpPr>
        <p:spPr bwMode="auto">
          <a:xfrm>
            <a:off x="757879" y="1653402"/>
            <a:ext cx="705159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Our optimized algorithm responds </a:t>
            </a:r>
            <a:r>
              <a:rPr kumimoji="0" lang="en-US" altLang="en-US" sz="1800" b="1" i="0" u="none" strike="noStrike" cap="none" normalizeH="0" baseline="0" dirty="0">
                <a:ln>
                  <a:noFill/>
                </a:ln>
                <a:solidFill>
                  <a:schemeClr val="tx1"/>
                </a:solidFill>
                <a:effectLst/>
                <a:latin typeface="Arial" panose="020B0604020202020204" pitchFamily="34" charset="0"/>
              </a:rPr>
              <a:t>much faster</a:t>
            </a:r>
            <a:r>
              <a:rPr kumimoji="0" lang="en-US" altLang="en-US" sz="1800" b="0" i="0" u="none" strike="noStrike" cap="none" normalizeH="0" baseline="0" dirty="0">
                <a:ln>
                  <a:noFill/>
                </a:ln>
                <a:solidFill>
                  <a:schemeClr val="tx1"/>
                </a:solidFill>
                <a:effectLst/>
                <a:latin typeface="Arial" panose="020B0604020202020204" pitchFamily="34" charset="0"/>
              </a:rPr>
              <a:t> compared to classical Kruskal.</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tx1"/>
                </a:solidFill>
                <a:latin typeface="Arial" panose="020B0604020202020204" pitchFamily="34" charset="0"/>
              </a:rPr>
              <a:t>F</a:t>
            </a:r>
            <a:r>
              <a:rPr kumimoji="0" lang="en-US" altLang="en-US" sz="1800" b="0" i="0" u="none" strike="noStrike" cap="none" normalizeH="0" baseline="0" dirty="0">
                <a:ln>
                  <a:noFill/>
                </a:ln>
                <a:solidFill>
                  <a:schemeClr val="tx1"/>
                </a:solidFill>
                <a:effectLst/>
                <a:latin typeface="Arial" panose="020B0604020202020204" pitchFamily="34" charset="0"/>
              </a:rPr>
              <a:t>iltering reduces computation by up to </a:t>
            </a:r>
            <a:r>
              <a:rPr kumimoji="0" lang="en-US" altLang="en-US" sz="1800" b="1" i="0" u="none" strike="noStrike" cap="none" normalizeH="0" baseline="0" dirty="0">
                <a:ln>
                  <a:noFill/>
                </a:ln>
                <a:solidFill>
                  <a:schemeClr val="tx1"/>
                </a:solidFill>
                <a:effectLst/>
                <a:latin typeface="Arial" panose="020B0604020202020204" pitchFamily="34" charset="0"/>
              </a:rPr>
              <a:t>90%</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Parallel processing further cuts down sorting and batch processing time.</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MST cost for each query is generated in milliseconds instead of seconds.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remains efficient even for large graphs with thousands of edges.</a:t>
            </a:r>
          </a:p>
        </p:txBody>
      </p:sp>
    </p:spTree>
    <p:extLst>
      <p:ext uri="{BB962C8B-B14F-4D97-AF65-F5344CB8AC3E}">
        <p14:creationId xmlns:p14="http://schemas.microsoft.com/office/powerpoint/2010/main" val="1114669672"/>
      </p:ext>
    </p:extLst>
  </p:cSld>
  <p:clrMapOvr>
    <a:masterClrMapping/>
  </p:clrMapOvr>
  <mc:AlternateContent xmlns:mc="http://schemas.openxmlformats.org/markup-compatibility/2006" xmlns:p14="http://schemas.microsoft.com/office/powerpoint/2010/main">
    <mc:Choice Requires="p14">
      <p:transition spd="slow" p14:dur="2000" advTm="37262"/>
    </mc:Choice>
    <mc:Fallback xmlns="">
      <p:transition spd="slow" advTm="3726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References</a:t>
            </a:r>
            <a:endParaRPr dirty="0"/>
          </a:p>
        </p:txBody>
      </p:sp>
      <p:sp>
        <p:nvSpPr>
          <p:cNvPr id="3" name="Content Placeholder 2"/>
          <p:cNvSpPr>
            <a:spLocks noGrp="1"/>
          </p:cNvSpPr>
          <p:nvPr>
            <p:ph idx="1"/>
          </p:nvPr>
        </p:nvSpPr>
        <p:spPr/>
        <p:txBody>
          <a:bodyPr/>
          <a:lstStyle/>
          <a:p>
            <a:endParaRPr dirty="0"/>
          </a:p>
          <a:p>
            <a:pPr>
              <a:defRPr sz="2000"/>
            </a:pPr>
            <a:endParaRPr dirty="0"/>
          </a:p>
        </p:txBody>
      </p:sp>
      <p:graphicFrame>
        <p:nvGraphicFramePr>
          <p:cNvPr id="4" name="Table 3">
            <a:extLst>
              <a:ext uri="{FF2B5EF4-FFF2-40B4-BE49-F238E27FC236}">
                <a16:creationId xmlns:a16="http://schemas.microsoft.com/office/drawing/2014/main" id="{F7B8FFD6-36C9-ED09-DFEE-5FB6A1F790B8}"/>
              </a:ext>
            </a:extLst>
          </p:cNvPr>
          <p:cNvGraphicFramePr>
            <a:graphicFrameLocks noGrp="1"/>
          </p:cNvGraphicFramePr>
          <p:nvPr>
            <p:extLst>
              <p:ext uri="{D42A27DB-BD31-4B8C-83A1-F6EECF244321}">
                <p14:modId xmlns:p14="http://schemas.microsoft.com/office/powerpoint/2010/main" val="2797969159"/>
              </p:ext>
            </p:extLst>
          </p:nvPr>
        </p:nvGraphicFramePr>
        <p:xfrm>
          <a:off x="718656" y="1744910"/>
          <a:ext cx="6470709" cy="3697343"/>
        </p:xfrm>
        <a:graphic>
          <a:graphicData uri="http://schemas.openxmlformats.org/drawingml/2006/table">
            <a:tbl>
              <a:tblPr/>
              <a:tblGrid>
                <a:gridCol w="2156903">
                  <a:extLst>
                    <a:ext uri="{9D8B030D-6E8A-4147-A177-3AD203B41FA5}">
                      <a16:colId xmlns:a16="http://schemas.microsoft.com/office/drawing/2014/main" val="2744324345"/>
                    </a:ext>
                  </a:extLst>
                </a:gridCol>
                <a:gridCol w="2156903">
                  <a:extLst>
                    <a:ext uri="{9D8B030D-6E8A-4147-A177-3AD203B41FA5}">
                      <a16:colId xmlns:a16="http://schemas.microsoft.com/office/drawing/2014/main" val="4165200989"/>
                    </a:ext>
                  </a:extLst>
                </a:gridCol>
                <a:gridCol w="2156903">
                  <a:extLst>
                    <a:ext uri="{9D8B030D-6E8A-4147-A177-3AD203B41FA5}">
                      <a16:colId xmlns:a16="http://schemas.microsoft.com/office/drawing/2014/main" val="4116208364"/>
                    </a:ext>
                  </a:extLst>
                </a:gridCol>
              </a:tblGrid>
              <a:tr h="216149">
                <a:tc>
                  <a:txBody>
                    <a:bodyPr/>
                    <a:lstStyle/>
                    <a:p>
                      <a:pPr algn="l"/>
                      <a:r>
                        <a:rPr lang="en-US" sz="1000" b="1">
                          <a:effectLst/>
                        </a:rPr>
                        <a:t>Authors</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r>
                        <a:rPr lang="en-US" sz="1000" b="1">
                          <a:effectLst/>
                        </a:rPr>
                        <a:t>Paper Title</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r>
                        <a:rPr lang="en-US" sz="1000" b="1">
                          <a:effectLst/>
                        </a:rPr>
                        <a:t>Work Focus</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595207113"/>
                  </a:ext>
                </a:extLst>
              </a:tr>
              <a:tr h="814715">
                <a:tc>
                  <a:txBody>
                    <a:bodyPr/>
                    <a:lstStyle/>
                    <a:p>
                      <a:pPr algn="l"/>
                      <a:r>
                        <a:rPr lang="en-US" sz="1000" dirty="0">
                          <a:effectLst/>
                        </a:rPr>
                        <a:t>J. B. Kruskal</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r>
                        <a:rPr lang="en-US" sz="1000">
                          <a:effectLst/>
                        </a:rPr>
                        <a:t>On the shortest spanning subtree of a graph and the traveling salesman problem</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r>
                        <a:rPr lang="en-US" sz="1000">
                          <a:effectLst/>
                        </a:rPr>
                        <a:t>Original Kruskal's algorithm for MST</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299038013"/>
                  </a:ext>
                </a:extLst>
              </a:tr>
              <a:tr h="515431">
                <a:tc>
                  <a:txBody>
                    <a:bodyPr/>
                    <a:lstStyle/>
                    <a:p>
                      <a:pPr algn="l"/>
                      <a:r>
                        <a:rPr lang="nb-NO" sz="1000">
                          <a:effectLst/>
                        </a:rPr>
                        <a:t>P. B. Guttoski et al.</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r>
                        <a:rPr lang="en-US" sz="1000" dirty="0">
                          <a:effectLst/>
                        </a:rPr>
                        <a:t>Kruskal’s algorithm for query tree optimization</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r>
                        <a:rPr lang="en-US" sz="1000">
                          <a:effectLst/>
                        </a:rPr>
                        <a:t>Query optimization using Kruskal's algorithm</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108986383"/>
                  </a:ext>
                </a:extLst>
              </a:tr>
              <a:tr h="515431">
                <a:tc>
                  <a:txBody>
                    <a:bodyPr/>
                    <a:lstStyle/>
                    <a:p>
                      <a:pPr algn="l"/>
                      <a:r>
                        <a:rPr lang="en-US" sz="1000">
                          <a:effectLst/>
                        </a:rPr>
                        <a:t>L. Fegaras</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r>
                        <a:rPr lang="en-US" sz="1000" dirty="0">
                          <a:effectLst/>
                        </a:rPr>
                        <a:t>A new heuristic for optimizing large queries</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r>
                        <a:rPr lang="en-US" sz="1000">
                          <a:effectLst/>
                        </a:rPr>
                        <a:t>Polynomial-time query optimization algorithms</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260264781"/>
                  </a:ext>
                </a:extLst>
              </a:tr>
              <a:tr h="964356">
                <a:tc>
                  <a:txBody>
                    <a:bodyPr/>
                    <a:lstStyle/>
                    <a:p>
                      <a:pPr algn="l"/>
                      <a:r>
                        <a:rPr lang="en-US" sz="1000">
                          <a:effectLst/>
                        </a:rPr>
                        <a:t>S. Srinivasan et al.</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r>
                        <a:rPr lang="en-US" sz="1000" dirty="0">
                          <a:effectLst/>
                        </a:rPr>
                        <a:t>A shared-memory algorithm for updating tree-based properties of large dynamic networks</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r>
                        <a:rPr lang="en-US" sz="1000">
                          <a:effectLst/>
                        </a:rPr>
                        <a:t>Parallel MST update algorithm with dynamic weights</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985187977"/>
                  </a:ext>
                </a:extLst>
              </a:tr>
              <a:tr h="665074">
                <a:tc>
                  <a:txBody>
                    <a:bodyPr/>
                    <a:lstStyle/>
                    <a:p>
                      <a:pPr algn="l"/>
                      <a:r>
                        <a:rPr lang="en-US" sz="1000">
                          <a:effectLst/>
                        </a:rPr>
                        <a:t>D. Anderson et al.</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r>
                        <a:rPr lang="en-US" sz="1000">
                          <a:effectLst/>
                        </a:rPr>
                        <a:t>Work-efficient batch-incremental minimum spanning trees</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r>
                        <a:rPr lang="en-US" sz="1000" dirty="0">
                          <a:effectLst/>
                        </a:rPr>
                        <a:t>Batch incremental approach for MST with sliding-window model</a:t>
                      </a:r>
                    </a:p>
                  </a:txBody>
                  <a:tcPr marL="34968" marR="34968" marT="34968" marB="3496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64048810"/>
                  </a:ext>
                </a:extLst>
              </a:tr>
            </a:tbl>
          </a:graphicData>
        </a:graphic>
      </p:graphicFrame>
    </p:spTree>
    <p:extLst>
      <p:ext uri="{BB962C8B-B14F-4D97-AF65-F5344CB8AC3E}">
        <p14:creationId xmlns:p14="http://schemas.microsoft.com/office/powerpoint/2010/main" val="2843751828"/>
      </p:ext>
    </p:extLst>
  </p:cSld>
  <p:clrMapOvr>
    <a:masterClrMapping/>
  </p:clrMapOvr>
  <mc:AlternateContent xmlns:mc="http://schemas.openxmlformats.org/markup-compatibility/2006" xmlns:p14="http://schemas.microsoft.com/office/powerpoint/2010/main">
    <mc:Choice Requires="p14">
      <p:transition spd="slow" p14:dur="2000" advTm="19069"/>
    </mc:Choice>
    <mc:Fallback xmlns="">
      <p:transition spd="slow" advTm="19069"/>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623</TotalTime>
  <Words>1828</Words>
  <Application>Microsoft Office PowerPoint</Application>
  <PresentationFormat>On-screen Show (4:3)</PresentationFormat>
  <Paragraphs>166</Paragraphs>
  <Slides>16</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Aptos</vt:lpstr>
      <vt:lpstr>Arial</vt:lpstr>
      <vt:lpstr>fkGroteskNeue</vt:lpstr>
      <vt:lpstr>KaTeX_Main</vt:lpstr>
      <vt:lpstr>KaTeX_Math</vt:lpstr>
      <vt:lpstr>Trebuchet MS</vt:lpstr>
      <vt:lpstr>Wingdings</vt:lpstr>
      <vt:lpstr>Wingdings 3</vt:lpstr>
      <vt:lpstr>Facet</vt:lpstr>
      <vt:lpstr>Online Query Optimization using an Effective Kruskal’s Algorithm with parallel algorithm approach</vt:lpstr>
      <vt:lpstr>Problem Statement</vt:lpstr>
      <vt:lpstr>Literature Review</vt:lpstr>
      <vt:lpstr>INPUT</vt:lpstr>
      <vt:lpstr>OUTPUT</vt:lpstr>
      <vt:lpstr>EXPLANATION</vt:lpstr>
      <vt:lpstr>EXPLANATION</vt:lpstr>
      <vt:lpstr>EXPLANATION</vt:lpstr>
      <vt:lpstr>Algorithms Used</vt:lpstr>
      <vt:lpstr>    ALGORITHM</vt:lpstr>
      <vt:lpstr>OUTPUT</vt:lpstr>
      <vt:lpstr>OUTPUT</vt:lpstr>
      <vt:lpstr>TIME COMPLEXITY</vt:lpstr>
      <vt:lpstr>Real-World Applications</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ASHRAFF SARITHALA</dc:creator>
  <cp:keywords/>
  <dc:description>generated using python-pptx</dc:description>
  <cp:lastModifiedBy>ASHRAFF SARITHALA</cp:lastModifiedBy>
  <cp:revision>14</cp:revision>
  <dcterms:created xsi:type="dcterms:W3CDTF">2013-01-27T09:14:16Z</dcterms:created>
  <dcterms:modified xsi:type="dcterms:W3CDTF">2025-12-07T06:51:19Z</dcterms:modified>
  <cp:category/>
</cp:coreProperties>
</file>